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0287000" cx="18288000"/>
  <p:notesSz cx="6858000" cy="9144000"/>
  <p:embeddedFontLst>
    <p:embeddedFont>
      <p:font typeface="Fredoka"/>
      <p:regular r:id="rId28"/>
      <p:bold r:id="rId29"/>
    </p:embeddedFont>
    <p:embeddedFont>
      <p:font typeface="Alegreya Sans"/>
      <p:regular r:id="rId30"/>
      <p:bold r:id="rId31"/>
      <p:italic r:id="rId32"/>
      <p:boldItalic r:id="rId33"/>
    </p:embeddedFont>
    <p:embeddedFont>
      <p:font typeface="Inter"/>
      <p:bold r:id="rId34"/>
      <p:boldItalic r:id="rId35"/>
    </p:embeddedFont>
    <p:embeddedFont>
      <p:font typeface="Public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jBhZJ4NERZxrWfNXpxneRk298Y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Fredoka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redok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legreyaSans-bold.fntdata"/><Relationship Id="rId30" Type="http://schemas.openxmlformats.org/officeDocument/2006/relationships/font" Target="fonts/AlegreyaSans-regular.fntdata"/><Relationship Id="rId11" Type="http://schemas.openxmlformats.org/officeDocument/2006/relationships/slide" Target="slides/slide6.xml"/><Relationship Id="rId33" Type="http://schemas.openxmlformats.org/officeDocument/2006/relationships/font" Target="fonts/AlegreyaSans-boldItalic.fntdata"/><Relationship Id="rId10" Type="http://schemas.openxmlformats.org/officeDocument/2006/relationships/slide" Target="slides/slide5.xml"/><Relationship Id="rId32" Type="http://schemas.openxmlformats.org/officeDocument/2006/relationships/font" Target="fonts/AlegreyaSans-italic.fntdata"/><Relationship Id="rId13" Type="http://schemas.openxmlformats.org/officeDocument/2006/relationships/slide" Target="slides/slide8.xml"/><Relationship Id="rId35" Type="http://schemas.openxmlformats.org/officeDocument/2006/relationships/font" Target="fonts/Inter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-bold.fntdata"/><Relationship Id="rId15" Type="http://schemas.openxmlformats.org/officeDocument/2006/relationships/slide" Target="slides/slide10.xml"/><Relationship Id="rId37" Type="http://schemas.openxmlformats.org/officeDocument/2006/relationships/font" Target="fonts/PublicSans-bold.fntdata"/><Relationship Id="rId14" Type="http://schemas.openxmlformats.org/officeDocument/2006/relationships/slide" Target="slides/slide9.xml"/><Relationship Id="rId36" Type="http://schemas.openxmlformats.org/officeDocument/2006/relationships/font" Target="fonts/PublicSans-regular.fntdata"/><Relationship Id="rId17" Type="http://schemas.openxmlformats.org/officeDocument/2006/relationships/slide" Target="slides/slide12.xml"/><Relationship Id="rId39" Type="http://schemas.openxmlformats.org/officeDocument/2006/relationships/font" Target="fonts/Public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Public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a97f07cca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2aa97f07cca_1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aa97f07cca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2aa97f07cca_1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aa97f07cca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2aa97f07cca_1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aa97f07cca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2aa97f07cca_2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a97f07cca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2aa97f07cca_1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aa97f07cc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2aa97f07cca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aa97f07cca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2aa97f07cca_2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aa97f07cca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2aa97f07cca_2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aa97f07cca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2aa97f07cca_1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209807" y="-309859"/>
            <a:ext cx="7868385" cy="10906460"/>
          </a:xfrm>
          <a:custGeom>
            <a:rect b="b" l="l" r="r" t="t"/>
            <a:pathLst>
              <a:path extrusionOk="0"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-101158" t="-45123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-2649053" y="-309601"/>
            <a:ext cx="7868385" cy="10906460"/>
          </a:xfrm>
          <a:custGeom>
            <a:rect b="b" l="l" r="r" t="t"/>
            <a:pathLst>
              <a:path extrusionOk="0"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-101158" t="-45123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3068668" y="-309601"/>
            <a:ext cx="7868385" cy="10906460"/>
          </a:xfrm>
          <a:custGeom>
            <a:rect b="b" l="l" r="r" t="t"/>
            <a:pathLst>
              <a:path extrusionOk="0"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-101158" t="-45123"/>
            </a:stretch>
          </a:blipFill>
          <a:ln>
            <a:noFill/>
          </a:ln>
        </p:spPr>
      </p:sp>
      <p:grpSp>
        <p:nvGrpSpPr>
          <p:cNvPr id="87" name="Google Shape;87;p1"/>
          <p:cNvGrpSpPr/>
          <p:nvPr/>
        </p:nvGrpSpPr>
        <p:grpSpPr>
          <a:xfrm>
            <a:off x="1028700" y="911469"/>
            <a:ext cx="16230600" cy="8346831"/>
            <a:chOff x="0" y="-38100"/>
            <a:chExt cx="5274950" cy="2712722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5274950" cy="2674622"/>
            </a:xfrm>
            <a:custGeom>
              <a:rect b="b" l="l" r="r" t="t"/>
              <a:pathLst>
                <a:path extrusionOk="0" h="2674622" w="5274950">
                  <a:moveTo>
                    <a:pt x="23850" y="0"/>
                  </a:moveTo>
                  <a:lnTo>
                    <a:pt x="5251100" y="0"/>
                  </a:lnTo>
                  <a:cubicBezTo>
                    <a:pt x="5264272" y="0"/>
                    <a:pt x="5274950" y="10678"/>
                    <a:pt x="5274950" y="23850"/>
                  </a:cubicBezTo>
                  <a:lnTo>
                    <a:pt x="5274950" y="2650773"/>
                  </a:lnTo>
                  <a:cubicBezTo>
                    <a:pt x="5274950" y="2657098"/>
                    <a:pt x="5272437" y="2663164"/>
                    <a:pt x="5267964" y="2667637"/>
                  </a:cubicBezTo>
                  <a:cubicBezTo>
                    <a:pt x="5263492" y="2672110"/>
                    <a:pt x="5257425" y="2674622"/>
                    <a:pt x="5251100" y="2674622"/>
                  </a:cubicBezTo>
                  <a:lnTo>
                    <a:pt x="23850" y="2674622"/>
                  </a:lnTo>
                  <a:cubicBezTo>
                    <a:pt x="17524" y="2674622"/>
                    <a:pt x="11458" y="2672110"/>
                    <a:pt x="6985" y="2667637"/>
                  </a:cubicBezTo>
                  <a:cubicBezTo>
                    <a:pt x="2513" y="2663164"/>
                    <a:pt x="0" y="2657098"/>
                    <a:pt x="0" y="265077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0" y="-38100"/>
              <a:ext cx="5274950" cy="2712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"/>
          <p:cNvSpPr/>
          <p:nvPr/>
        </p:nvSpPr>
        <p:spPr>
          <a:xfrm>
            <a:off x="1382336" y="4497921"/>
            <a:ext cx="4362220" cy="6254078"/>
          </a:xfrm>
          <a:custGeom>
            <a:rect b="b" l="l" r="r" t="t"/>
            <a:pathLst>
              <a:path extrusionOk="0" h="6254078" w="4362220">
                <a:moveTo>
                  <a:pt x="0" y="0"/>
                </a:moveTo>
                <a:lnTo>
                  <a:pt x="4362220" y="0"/>
                </a:lnTo>
                <a:lnTo>
                  <a:pt x="4362220" y="6254078"/>
                </a:lnTo>
                <a:lnTo>
                  <a:pt x="0" y="6254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2948930" y="1336546"/>
            <a:ext cx="12390140" cy="7223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LƯU TRỮ VÀ PHÂN TÍCH THÔNG TIN TUYỂN DỤNG NGÀNH IT</a:t>
            </a:r>
            <a:endParaRPr/>
          </a:p>
          <a:p>
            <a:pPr indent="0" lvl="0" marL="0" marR="0" rtl="0" algn="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999" u="none" cap="none" strike="noStrike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821386" y="7050314"/>
            <a:ext cx="8765500" cy="1844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NHÓM 6 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GIẢNG VIÊN: TS TRẦN VIỆT TRUNG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-2649053" y="-309601"/>
            <a:ext cx="7868385" cy="10906460"/>
          </a:xfrm>
          <a:custGeom>
            <a:rect b="b" l="l" r="r" t="t"/>
            <a:pathLst>
              <a:path extrusionOk="0"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-101158" t="-45123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1360519" y="730670"/>
            <a:ext cx="16230600" cy="8346831"/>
            <a:chOff x="0" y="-38100"/>
            <a:chExt cx="5274950" cy="2712722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5274950" cy="2674622"/>
            </a:xfrm>
            <a:custGeom>
              <a:rect b="b" l="l" r="r" t="t"/>
              <a:pathLst>
                <a:path extrusionOk="0" h="2674622" w="5274950">
                  <a:moveTo>
                    <a:pt x="23850" y="0"/>
                  </a:moveTo>
                  <a:lnTo>
                    <a:pt x="5251100" y="0"/>
                  </a:lnTo>
                  <a:cubicBezTo>
                    <a:pt x="5264272" y="0"/>
                    <a:pt x="5274950" y="10678"/>
                    <a:pt x="5274950" y="23850"/>
                  </a:cubicBezTo>
                  <a:lnTo>
                    <a:pt x="5274950" y="2650773"/>
                  </a:lnTo>
                  <a:cubicBezTo>
                    <a:pt x="5274950" y="2657098"/>
                    <a:pt x="5272437" y="2663164"/>
                    <a:pt x="5267964" y="2667637"/>
                  </a:cubicBezTo>
                  <a:cubicBezTo>
                    <a:pt x="5263492" y="2672110"/>
                    <a:pt x="5257425" y="2674622"/>
                    <a:pt x="5251100" y="2674622"/>
                  </a:cubicBezTo>
                  <a:lnTo>
                    <a:pt x="23850" y="2674622"/>
                  </a:lnTo>
                  <a:cubicBezTo>
                    <a:pt x="17524" y="2674622"/>
                    <a:pt x="11458" y="2672110"/>
                    <a:pt x="6985" y="2667637"/>
                  </a:cubicBezTo>
                  <a:cubicBezTo>
                    <a:pt x="2513" y="2663164"/>
                    <a:pt x="0" y="2657098"/>
                    <a:pt x="0" y="265077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38100"/>
              <a:ext cx="5274950" cy="2712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-271868" y="4497921"/>
            <a:ext cx="4362220" cy="6254078"/>
          </a:xfrm>
          <a:custGeom>
            <a:rect b="b" l="l" r="r" t="t"/>
            <a:pathLst>
              <a:path extrusionOk="0" h="6254078" w="4362220">
                <a:moveTo>
                  <a:pt x="0" y="0"/>
                </a:moveTo>
                <a:lnTo>
                  <a:pt x="4362220" y="0"/>
                </a:lnTo>
                <a:lnTo>
                  <a:pt x="4362220" y="6254078"/>
                </a:lnTo>
                <a:lnTo>
                  <a:pt x="0" y="6254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4138788" y="3837684"/>
            <a:ext cx="12711107" cy="4872906"/>
          </a:xfrm>
          <a:custGeom>
            <a:rect b="b" l="l" r="r" t="t"/>
            <a:pathLst>
              <a:path extrusionOk="0" h="4872906" w="12711107">
                <a:moveTo>
                  <a:pt x="0" y="0"/>
                </a:moveTo>
                <a:lnTo>
                  <a:pt x="12711107" y="0"/>
                </a:lnTo>
                <a:lnTo>
                  <a:pt x="12711107" y="4872906"/>
                </a:lnTo>
                <a:lnTo>
                  <a:pt x="0" y="487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 txBox="1"/>
          <p:nvPr/>
        </p:nvSpPr>
        <p:spPr>
          <a:xfrm>
            <a:off x="7698542" y="1365827"/>
            <a:ext cx="8187540" cy="183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Nhóm 6 </a:t>
            </a:r>
            <a:endParaRPr/>
          </a:p>
          <a:p>
            <a:pPr indent="0" lvl="0" marL="0" marR="0" rtl="0" algn="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Giảng viên: TS Trần Việt Trung</a:t>
            </a:r>
            <a:endParaRPr/>
          </a:p>
          <a:p>
            <a:pPr indent="0" lvl="0" marL="0" marR="0" rtl="0" algn="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5052466" y="3124777"/>
            <a:ext cx="12538653" cy="712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82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Danh sách thành viên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g2aa97f07cca_1_62"/>
          <p:cNvGrpSpPr/>
          <p:nvPr/>
        </p:nvGrpSpPr>
        <p:grpSpPr>
          <a:xfrm>
            <a:off x="773083" y="987143"/>
            <a:ext cx="16741721" cy="9299930"/>
            <a:chOff x="0" y="-38100"/>
            <a:chExt cx="5441100" cy="3022500"/>
          </a:xfrm>
        </p:grpSpPr>
        <p:sp>
          <p:nvSpPr>
            <p:cNvPr id="110" name="Google Shape;110;g2aa97f07cca_1_62"/>
            <p:cNvSpPr/>
            <p:nvPr/>
          </p:nvSpPr>
          <p:spPr>
            <a:xfrm>
              <a:off x="0" y="0"/>
              <a:ext cx="5441100" cy="2984357"/>
            </a:xfrm>
            <a:custGeom>
              <a:rect b="b" l="l" r="r" t="t"/>
              <a:pathLst>
                <a:path extrusionOk="0" h="2984357" w="5441100">
                  <a:moveTo>
                    <a:pt x="23121" y="0"/>
                  </a:moveTo>
                  <a:lnTo>
                    <a:pt x="5417979" y="0"/>
                  </a:lnTo>
                  <a:cubicBezTo>
                    <a:pt x="5424111" y="0"/>
                    <a:pt x="5429992" y="2436"/>
                    <a:pt x="5434328" y="6772"/>
                  </a:cubicBezTo>
                  <a:cubicBezTo>
                    <a:pt x="5438665" y="11108"/>
                    <a:pt x="5441100" y="16989"/>
                    <a:pt x="5441100" y="23121"/>
                  </a:cubicBezTo>
                  <a:lnTo>
                    <a:pt x="5441100" y="2961235"/>
                  </a:lnTo>
                  <a:cubicBezTo>
                    <a:pt x="5441100" y="2967367"/>
                    <a:pt x="5438665" y="2973248"/>
                    <a:pt x="5434328" y="2977585"/>
                  </a:cubicBezTo>
                  <a:cubicBezTo>
                    <a:pt x="5429992" y="2981921"/>
                    <a:pt x="5424111" y="2984357"/>
                    <a:pt x="5417979" y="2984357"/>
                  </a:cubicBezTo>
                  <a:lnTo>
                    <a:pt x="23121" y="2984357"/>
                  </a:lnTo>
                  <a:cubicBezTo>
                    <a:pt x="16989" y="2984357"/>
                    <a:pt x="11108" y="2981921"/>
                    <a:pt x="6772" y="2977585"/>
                  </a:cubicBezTo>
                  <a:cubicBezTo>
                    <a:pt x="2436" y="2973248"/>
                    <a:pt x="0" y="2967367"/>
                    <a:pt x="0" y="2961235"/>
                  </a:cubicBezTo>
                  <a:lnTo>
                    <a:pt x="0" y="23121"/>
                  </a:lnTo>
                  <a:cubicBezTo>
                    <a:pt x="0" y="16989"/>
                    <a:pt x="2436" y="11108"/>
                    <a:pt x="6772" y="6772"/>
                  </a:cubicBezTo>
                  <a:cubicBezTo>
                    <a:pt x="11108" y="2436"/>
                    <a:pt x="16989" y="0"/>
                    <a:pt x="2312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g2aa97f07cca_1_62"/>
            <p:cNvSpPr txBox="1"/>
            <p:nvPr/>
          </p:nvSpPr>
          <p:spPr>
            <a:xfrm>
              <a:off x="0" y="-38100"/>
              <a:ext cx="5441100" cy="30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g2aa97f07cca_1_62"/>
          <p:cNvSpPr/>
          <p:nvPr/>
        </p:nvSpPr>
        <p:spPr>
          <a:xfrm>
            <a:off x="5209807" y="-309859"/>
            <a:ext cx="7868385" cy="10906460"/>
          </a:xfrm>
          <a:custGeom>
            <a:rect b="b" l="l" r="r" t="t"/>
            <a:pathLst>
              <a:path extrusionOk="0"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-101158" t="-45118"/>
            </a:stretch>
          </a:blipFill>
          <a:ln>
            <a:noFill/>
          </a:ln>
        </p:spPr>
      </p:sp>
      <p:sp>
        <p:nvSpPr>
          <p:cNvPr id="113" name="Google Shape;113;g2aa97f07cca_1_62"/>
          <p:cNvSpPr/>
          <p:nvPr/>
        </p:nvSpPr>
        <p:spPr>
          <a:xfrm>
            <a:off x="1968819" y="1702513"/>
            <a:ext cx="14350362" cy="8584487"/>
          </a:xfrm>
          <a:custGeom>
            <a:rect b="b" l="l" r="r" t="t"/>
            <a:pathLst>
              <a:path extrusionOk="0" h="8584487" w="14350362">
                <a:moveTo>
                  <a:pt x="0" y="0"/>
                </a:moveTo>
                <a:lnTo>
                  <a:pt x="14350362" y="0"/>
                </a:lnTo>
                <a:lnTo>
                  <a:pt x="14350362" y="8584487"/>
                </a:lnTo>
                <a:lnTo>
                  <a:pt x="0" y="85844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39" l="0" r="0" t="-849"/>
            </a:stretch>
          </a:blipFill>
          <a:ln>
            <a:noFill/>
          </a:ln>
        </p:spPr>
      </p:sp>
      <p:sp>
        <p:nvSpPr>
          <p:cNvPr id="114" name="Google Shape;114;g2aa97f07cca_1_62"/>
          <p:cNvSpPr txBox="1"/>
          <p:nvPr/>
        </p:nvSpPr>
        <p:spPr>
          <a:xfrm>
            <a:off x="3084052" y="68985"/>
            <a:ext cx="121200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0" u="none" cap="none" strike="noStrik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TỔNG QUAN HỆ THỐNG</a:t>
            </a:r>
            <a:endParaRPr b="1" i="0" sz="71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g2aa97f07cca_1_73"/>
          <p:cNvGrpSpPr/>
          <p:nvPr/>
        </p:nvGrpSpPr>
        <p:grpSpPr>
          <a:xfrm>
            <a:off x="773083" y="987143"/>
            <a:ext cx="16741721" cy="9299930"/>
            <a:chOff x="0" y="-38100"/>
            <a:chExt cx="5441100" cy="3022500"/>
          </a:xfrm>
        </p:grpSpPr>
        <p:sp>
          <p:nvSpPr>
            <p:cNvPr id="120" name="Google Shape;120;g2aa97f07cca_1_73"/>
            <p:cNvSpPr/>
            <p:nvPr/>
          </p:nvSpPr>
          <p:spPr>
            <a:xfrm>
              <a:off x="0" y="0"/>
              <a:ext cx="5441100" cy="2984357"/>
            </a:xfrm>
            <a:custGeom>
              <a:rect b="b" l="l" r="r" t="t"/>
              <a:pathLst>
                <a:path extrusionOk="0" h="2984357" w="5441100">
                  <a:moveTo>
                    <a:pt x="23121" y="0"/>
                  </a:moveTo>
                  <a:lnTo>
                    <a:pt x="5417979" y="0"/>
                  </a:lnTo>
                  <a:cubicBezTo>
                    <a:pt x="5424111" y="0"/>
                    <a:pt x="5429992" y="2436"/>
                    <a:pt x="5434328" y="6772"/>
                  </a:cubicBezTo>
                  <a:cubicBezTo>
                    <a:pt x="5438665" y="11108"/>
                    <a:pt x="5441100" y="16989"/>
                    <a:pt x="5441100" y="23121"/>
                  </a:cubicBezTo>
                  <a:lnTo>
                    <a:pt x="5441100" y="2961235"/>
                  </a:lnTo>
                  <a:cubicBezTo>
                    <a:pt x="5441100" y="2967367"/>
                    <a:pt x="5438665" y="2973248"/>
                    <a:pt x="5434328" y="2977585"/>
                  </a:cubicBezTo>
                  <a:cubicBezTo>
                    <a:pt x="5429992" y="2981921"/>
                    <a:pt x="5424111" y="2984357"/>
                    <a:pt x="5417979" y="2984357"/>
                  </a:cubicBezTo>
                  <a:lnTo>
                    <a:pt x="23121" y="2984357"/>
                  </a:lnTo>
                  <a:cubicBezTo>
                    <a:pt x="16989" y="2984357"/>
                    <a:pt x="11108" y="2981921"/>
                    <a:pt x="6772" y="2977585"/>
                  </a:cubicBezTo>
                  <a:cubicBezTo>
                    <a:pt x="2436" y="2973248"/>
                    <a:pt x="0" y="2967367"/>
                    <a:pt x="0" y="2961235"/>
                  </a:cubicBezTo>
                  <a:lnTo>
                    <a:pt x="0" y="23121"/>
                  </a:lnTo>
                  <a:cubicBezTo>
                    <a:pt x="0" y="16989"/>
                    <a:pt x="2436" y="11108"/>
                    <a:pt x="6772" y="6772"/>
                  </a:cubicBezTo>
                  <a:cubicBezTo>
                    <a:pt x="11108" y="2436"/>
                    <a:pt x="16989" y="0"/>
                    <a:pt x="2312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2aa97f07cca_1_73"/>
            <p:cNvSpPr txBox="1"/>
            <p:nvPr/>
          </p:nvSpPr>
          <p:spPr>
            <a:xfrm>
              <a:off x="0" y="-38100"/>
              <a:ext cx="5441100" cy="30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g2aa97f07cca_1_73"/>
          <p:cNvSpPr/>
          <p:nvPr/>
        </p:nvSpPr>
        <p:spPr>
          <a:xfrm>
            <a:off x="5209807" y="-309859"/>
            <a:ext cx="7868385" cy="10906460"/>
          </a:xfrm>
          <a:custGeom>
            <a:rect b="b" l="l" r="r" t="t"/>
            <a:pathLst>
              <a:path extrusionOk="0"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-101158" t="-45118"/>
            </a:stretch>
          </a:blipFill>
          <a:ln>
            <a:noFill/>
          </a:ln>
        </p:spPr>
      </p:sp>
      <p:sp>
        <p:nvSpPr>
          <p:cNvPr id="123" name="Google Shape;123;g2aa97f07cca_1_73"/>
          <p:cNvSpPr/>
          <p:nvPr/>
        </p:nvSpPr>
        <p:spPr>
          <a:xfrm>
            <a:off x="-514053" y="-619451"/>
            <a:ext cx="7868385" cy="10906460"/>
          </a:xfrm>
          <a:custGeom>
            <a:rect b="b" l="l" r="r" t="t"/>
            <a:pathLst>
              <a:path extrusionOk="0"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-101158" t="-45118"/>
            </a:stretch>
          </a:blipFill>
          <a:ln>
            <a:noFill/>
          </a:ln>
        </p:spPr>
      </p:sp>
      <p:sp>
        <p:nvSpPr>
          <p:cNvPr id="124" name="Google Shape;124;g2aa97f07cca_1_73"/>
          <p:cNvSpPr/>
          <p:nvPr/>
        </p:nvSpPr>
        <p:spPr>
          <a:xfrm>
            <a:off x="13078193" y="-619460"/>
            <a:ext cx="7868385" cy="10906460"/>
          </a:xfrm>
          <a:custGeom>
            <a:rect b="b" l="l" r="r" t="t"/>
            <a:pathLst>
              <a:path extrusionOk="0"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-101158" t="-45118"/>
            </a:stretch>
          </a:blipFill>
          <a:ln>
            <a:noFill/>
          </a:ln>
        </p:spPr>
      </p:sp>
      <p:sp>
        <p:nvSpPr>
          <p:cNvPr id="125" name="Google Shape;125;g2aa97f07cca_1_73"/>
          <p:cNvSpPr/>
          <p:nvPr/>
        </p:nvSpPr>
        <p:spPr>
          <a:xfrm>
            <a:off x="4914769" y="3717034"/>
            <a:ext cx="8458461" cy="4837646"/>
          </a:xfrm>
          <a:custGeom>
            <a:rect b="b" l="l" r="r" t="t"/>
            <a:pathLst>
              <a:path extrusionOk="0" h="4837646" w="8458461">
                <a:moveTo>
                  <a:pt x="0" y="0"/>
                </a:moveTo>
                <a:lnTo>
                  <a:pt x="8458462" y="0"/>
                </a:lnTo>
                <a:lnTo>
                  <a:pt x="8458462" y="4837646"/>
                </a:lnTo>
                <a:lnTo>
                  <a:pt x="0" y="4837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g2aa97f07cca_1_73"/>
          <p:cNvSpPr txBox="1"/>
          <p:nvPr/>
        </p:nvSpPr>
        <p:spPr>
          <a:xfrm>
            <a:off x="-514044" y="-14841"/>
            <a:ext cx="12120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XÂY DỰNG HỆ THỐNG</a:t>
            </a:r>
            <a:endParaRPr b="1"/>
          </a:p>
        </p:txBody>
      </p:sp>
      <p:sp>
        <p:nvSpPr>
          <p:cNvPr id="127" name="Google Shape;127;g2aa97f07cca_1_73"/>
          <p:cNvSpPr txBox="1"/>
          <p:nvPr/>
        </p:nvSpPr>
        <p:spPr>
          <a:xfrm>
            <a:off x="-1994723" y="2300162"/>
            <a:ext cx="12120000" cy="23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2865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Public Sans"/>
              <a:buAutoNum type="arabicPeriod"/>
            </a:pPr>
            <a:r>
              <a:rPr b="0" i="0" lang="en-US" sz="6300" u="none" cap="none" strike="noStrik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DOCKER</a:t>
            </a:r>
            <a:endParaRPr sz="2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3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8" name="Google Shape;128;g2aa97f07cca_1_73"/>
          <p:cNvSpPr txBox="1"/>
          <p:nvPr/>
        </p:nvSpPr>
        <p:spPr>
          <a:xfrm>
            <a:off x="6558998" y="9182100"/>
            <a:ext cx="4488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docker-compose up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g2aa97f07cca_1_27"/>
          <p:cNvGrpSpPr/>
          <p:nvPr/>
        </p:nvGrpSpPr>
        <p:grpSpPr>
          <a:xfrm>
            <a:off x="773083" y="987143"/>
            <a:ext cx="16741721" cy="9299930"/>
            <a:chOff x="0" y="-38100"/>
            <a:chExt cx="5441100" cy="3022500"/>
          </a:xfrm>
        </p:grpSpPr>
        <p:sp>
          <p:nvSpPr>
            <p:cNvPr id="134" name="Google Shape;134;g2aa97f07cca_1_27"/>
            <p:cNvSpPr/>
            <p:nvPr/>
          </p:nvSpPr>
          <p:spPr>
            <a:xfrm>
              <a:off x="0" y="0"/>
              <a:ext cx="5441100" cy="2984357"/>
            </a:xfrm>
            <a:custGeom>
              <a:rect b="b" l="l" r="r" t="t"/>
              <a:pathLst>
                <a:path extrusionOk="0" h="2984357" w="5441100">
                  <a:moveTo>
                    <a:pt x="23121" y="0"/>
                  </a:moveTo>
                  <a:lnTo>
                    <a:pt x="5417979" y="0"/>
                  </a:lnTo>
                  <a:cubicBezTo>
                    <a:pt x="5424111" y="0"/>
                    <a:pt x="5429992" y="2436"/>
                    <a:pt x="5434328" y="6772"/>
                  </a:cubicBezTo>
                  <a:cubicBezTo>
                    <a:pt x="5438665" y="11108"/>
                    <a:pt x="5441100" y="16989"/>
                    <a:pt x="5441100" y="23121"/>
                  </a:cubicBezTo>
                  <a:lnTo>
                    <a:pt x="5441100" y="2961235"/>
                  </a:lnTo>
                  <a:cubicBezTo>
                    <a:pt x="5441100" y="2967367"/>
                    <a:pt x="5438665" y="2973248"/>
                    <a:pt x="5434328" y="2977585"/>
                  </a:cubicBezTo>
                  <a:cubicBezTo>
                    <a:pt x="5429992" y="2981921"/>
                    <a:pt x="5424111" y="2984357"/>
                    <a:pt x="5417979" y="2984357"/>
                  </a:cubicBezTo>
                  <a:lnTo>
                    <a:pt x="23121" y="2984357"/>
                  </a:lnTo>
                  <a:cubicBezTo>
                    <a:pt x="16989" y="2984357"/>
                    <a:pt x="11108" y="2981921"/>
                    <a:pt x="6772" y="2977585"/>
                  </a:cubicBezTo>
                  <a:cubicBezTo>
                    <a:pt x="2436" y="2973248"/>
                    <a:pt x="0" y="2967367"/>
                    <a:pt x="0" y="2961235"/>
                  </a:cubicBezTo>
                  <a:lnTo>
                    <a:pt x="0" y="23121"/>
                  </a:lnTo>
                  <a:cubicBezTo>
                    <a:pt x="0" y="16989"/>
                    <a:pt x="2436" y="11108"/>
                    <a:pt x="6772" y="6772"/>
                  </a:cubicBezTo>
                  <a:cubicBezTo>
                    <a:pt x="11108" y="2436"/>
                    <a:pt x="16989" y="0"/>
                    <a:pt x="2312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g2aa97f07cca_1_27"/>
            <p:cNvSpPr txBox="1"/>
            <p:nvPr/>
          </p:nvSpPr>
          <p:spPr>
            <a:xfrm>
              <a:off x="0" y="-38100"/>
              <a:ext cx="5441100" cy="30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g2aa97f07cca_1_27"/>
          <p:cNvSpPr txBox="1"/>
          <p:nvPr/>
        </p:nvSpPr>
        <p:spPr>
          <a:xfrm>
            <a:off x="2700580" y="125240"/>
            <a:ext cx="124305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 sz="559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Dữ liệu trên trang tuyển dụng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99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7" name="Google Shape;137;g2aa97f07cca_1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587" y="1101900"/>
            <a:ext cx="16538702" cy="907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0"/>
          <p:cNvGrpSpPr/>
          <p:nvPr/>
        </p:nvGrpSpPr>
        <p:grpSpPr>
          <a:xfrm>
            <a:off x="195943" y="1731038"/>
            <a:ext cx="17765405" cy="8555936"/>
            <a:chOff x="0" y="-38100"/>
            <a:chExt cx="5773800" cy="2780700"/>
          </a:xfrm>
        </p:grpSpPr>
        <p:sp>
          <p:nvSpPr>
            <p:cNvPr id="143" name="Google Shape;143;p10"/>
            <p:cNvSpPr/>
            <p:nvPr/>
          </p:nvSpPr>
          <p:spPr>
            <a:xfrm>
              <a:off x="0" y="0"/>
              <a:ext cx="5773788" cy="2742590"/>
            </a:xfrm>
            <a:custGeom>
              <a:rect b="b" l="l" r="r" t="t"/>
              <a:pathLst>
                <a:path extrusionOk="0" h="2742590" w="5773788">
                  <a:moveTo>
                    <a:pt x="21789" y="0"/>
                  </a:moveTo>
                  <a:lnTo>
                    <a:pt x="5751999" y="0"/>
                  </a:lnTo>
                  <a:cubicBezTo>
                    <a:pt x="5757778" y="0"/>
                    <a:pt x="5763320" y="2296"/>
                    <a:pt x="5767406" y="6382"/>
                  </a:cubicBezTo>
                  <a:cubicBezTo>
                    <a:pt x="5771492" y="10468"/>
                    <a:pt x="5773788" y="16010"/>
                    <a:pt x="5773788" y="21789"/>
                  </a:cubicBezTo>
                  <a:lnTo>
                    <a:pt x="5773788" y="2720801"/>
                  </a:lnTo>
                  <a:cubicBezTo>
                    <a:pt x="5773788" y="2726580"/>
                    <a:pt x="5771492" y="2732122"/>
                    <a:pt x="5767406" y="2736208"/>
                  </a:cubicBezTo>
                  <a:cubicBezTo>
                    <a:pt x="5763320" y="2740295"/>
                    <a:pt x="5757778" y="2742590"/>
                    <a:pt x="5751999" y="2742590"/>
                  </a:cubicBezTo>
                  <a:lnTo>
                    <a:pt x="21789" y="2742590"/>
                  </a:lnTo>
                  <a:cubicBezTo>
                    <a:pt x="16010" y="2742590"/>
                    <a:pt x="10468" y="2740295"/>
                    <a:pt x="6382" y="2736208"/>
                  </a:cubicBezTo>
                  <a:cubicBezTo>
                    <a:pt x="2296" y="2732122"/>
                    <a:pt x="0" y="2726580"/>
                    <a:pt x="0" y="2720801"/>
                  </a:cubicBezTo>
                  <a:lnTo>
                    <a:pt x="0" y="21789"/>
                  </a:lnTo>
                  <a:cubicBezTo>
                    <a:pt x="0" y="16010"/>
                    <a:pt x="2296" y="10468"/>
                    <a:pt x="6382" y="6382"/>
                  </a:cubicBezTo>
                  <a:cubicBezTo>
                    <a:pt x="10468" y="2296"/>
                    <a:pt x="16010" y="0"/>
                    <a:pt x="21789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0"/>
            <p:cNvSpPr txBox="1"/>
            <p:nvPr/>
          </p:nvSpPr>
          <p:spPr>
            <a:xfrm>
              <a:off x="0" y="-38100"/>
              <a:ext cx="5773800" cy="27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2.1.1. Thu thập dữ liệu</a:t>
              </a:r>
              <a:endParaRPr/>
            </a:p>
          </p:txBody>
        </p:sp>
      </p:grpSp>
      <p:sp>
        <p:nvSpPr>
          <p:cNvPr id="145" name="Google Shape;145;p10"/>
          <p:cNvSpPr/>
          <p:nvPr/>
        </p:nvSpPr>
        <p:spPr>
          <a:xfrm>
            <a:off x="2637527" y="2746875"/>
            <a:ext cx="13403834" cy="7295970"/>
          </a:xfrm>
          <a:custGeom>
            <a:rect b="b" l="l" r="r" t="t"/>
            <a:pathLst>
              <a:path extrusionOk="0" h="7295970" w="13403834">
                <a:moveTo>
                  <a:pt x="0" y="0"/>
                </a:moveTo>
                <a:lnTo>
                  <a:pt x="13403834" y="0"/>
                </a:lnTo>
                <a:lnTo>
                  <a:pt x="13403834" y="7295969"/>
                </a:lnTo>
                <a:lnTo>
                  <a:pt x="0" y="7295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10"/>
          <p:cNvSpPr txBox="1"/>
          <p:nvPr/>
        </p:nvSpPr>
        <p:spPr>
          <a:xfrm>
            <a:off x="3902081" y="123658"/>
            <a:ext cx="1048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7" name="Google Shape;147;p10"/>
          <p:cNvSpPr txBox="1"/>
          <p:nvPr/>
        </p:nvSpPr>
        <p:spPr>
          <a:xfrm>
            <a:off x="2792863" y="557900"/>
            <a:ext cx="12571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Thu thập dữ li</a:t>
            </a:r>
            <a:r>
              <a:rPr b="1" lang="en-US" sz="6199">
                <a:latin typeface="Inter"/>
                <a:ea typeface="Inter"/>
                <a:cs typeface="Inter"/>
                <a:sym typeface="Inter"/>
              </a:rPr>
              <a:t>ệu</a:t>
            </a:r>
            <a:endParaRPr b="1" sz="3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g2aa97f07cca_2_78"/>
          <p:cNvGrpSpPr/>
          <p:nvPr/>
        </p:nvGrpSpPr>
        <p:grpSpPr>
          <a:xfrm>
            <a:off x="773083" y="987143"/>
            <a:ext cx="16741721" cy="9299930"/>
            <a:chOff x="0" y="-38100"/>
            <a:chExt cx="5441100" cy="3022500"/>
          </a:xfrm>
        </p:grpSpPr>
        <p:sp>
          <p:nvSpPr>
            <p:cNvPr id="153" name="Google Shape;153;g2aa97f07cca_2_78"/>
            <p:cNvSpPr/>
            <p:nvPr/>
          </p:nvSpPr>
          <p:spPr>
            <a:xfrm>
              <a:off x="0" y="0"/>
              <a:ext cx="5441100" cy="2984357"/>
            </a:xfrm>
            <a:custGeom>
              <a:rect b="b" l="l" r="r" t="t"/>
              <a:pathLst>
                <a:path extrusionOk="0" h="2984357" w="5441100">
                  <a:moveTo>
                    <a:pt x="23121" y="0"/>
                  </a:moveTo>
                  <a:lnTo>
                    <a:pt x="5417979" y="0"/>
                  </a:lnTo>
                  <a:cubicBezTo>
                    <a:pt x="5424111" y="0"/>
                    <a:pt x="5429992" y="2436"/>
                    <a:pt x="5434328" y="6772"/>
                  </a:cubicBezTo>
                  <a:cubicBezTo>
                    <a:pt x="5438665" y="11108"/>
                    <a:pt x="5441100" y="16989"/>
                    <a:pt x="5441100" y="23121"/>
                  </a:cubicBezTo>
                  <a:lnTo>
                    <a:pt x="5441100" y="2961235"/>
                  </a:lnTo>
                  <a:cubicBezTo>
                    <a:pt x="5441100" y="2967367"/>
                    <a:pt x="5438665" y="2973248"/>
                    <a:pt x="5434328" y="2977585"/>
                  </a:cubicBezTo>
                  <a:cubicBezTo>
                    <a:pt x="5429992" y="2981921"/>
                    <a:pt x="5424111" y="2984357"/>
                    <a:pt x="5417979" y="2984357"/>
                  </a:cubicBezTo>
                  <a:lnTo>
                    <a:pt x="23121" y="2984357"/>
                  </a:lnTo>
                  <a:cubicBezTo>
                    <a:pt x="16989" y="2984357"/>
                    <a:pt x="11108" y="2981921"/>
                    <a:pt x="6772" y="2977585"/>
                  </a:cubicBezTo>
                  <a:cubicBezTo>
                    <a:pt x="2436" y="2973248"/>
                    <a:pt x="0" y="2967367"/>
                    <a:pt x="0" y="2961235"/>
                  </a:cubicBezTo>
                  <a:lnTo>
                    <a:pt x="0" y="23121"/>
                  </a:lnTo>
                  <a:cubicBezTo>
                    <a:pt x="0" y="16989"/>
                    <a:pt x="2436" y="11108"/>
                    <a:pt x="6772" y="6772"/>
                  </a:cubicBezTo>
                  <a:cubicBezTo>
                    <a:pt x="11108" y="2436"/>
                    <a:pt x="16989" y="0"/>
                    <a:pt x="2312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g2aa97f07cca_2_78"/>
            <p:cNvSpPr txBox="1"/>
            <p:nvPr/>
          </p:nvSpPr>
          <p:spPr>
            <a:xfrm>
              <a:off x="0" y="-38100"/>
              <a:ext cx="5441100" cy="30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2aa97f07cca_2_78"/>
          <p:cNvSpPr txBox="1"/>
          <p:nvPr/>
        </p:nvSpPr>
        <p:spPr>
          <a:xfrm>
            <a:off x="2700580" y="125240"/>
            <a:ext cx="12430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1300" lvl="0" marL="13716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"/>
              <a:buAutoNum type="arabicPeriod"/>
            </a:pPr>
            <a:r>
              <a:rPr b="1" lang="en-US" sz="6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2. HADOOP</a:t>
            </a:r>
            <a:endParaRPr b="1" sz="439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g2aa97f07cca_2_78"/>
          <p:cNvSpPr/>
          <p:nvPr/>
        </p:nvSpPr>
        <p:spPr>
          <a:xfrm>
            <a:off x="2700575" y="2207850"/>
            <a:ext cx="8353184" cy="6858514"/>
          </a:xfrm>
          <a:custGeom>
            <a:rect b="b" l="l" r="r" t="t"/>
            <a:pathLst>
              <a:path extrusionOk="0" h="9868366" w="13693744">
                <a:moveTo>
                  <a:pt x="0" y="0"/>
                </a:moveTo>
                <a:lnTo>
                  <a:pt x="13693744" y="0"/>
                </a:lnTo>
                <a:lnTo>
                  <a:pt x="13693744" y="9868366"/>
                </a:lnTo>
                <a:lnTo>
                  <a:pt x="0" y="9868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7" name="Google Shape;157;g2aa97f07cca_2_78"/>
          <p:cNvPicPr preferRelativeResize="0"/>
          <p:nvPr/>
        </p:nvPicPr>
        <p:blipFill rotWithShape="1">
          <a:blip r:embed="rId4">
            <a:alphaModFix/>
          </a:blip>
          <a:srcRect b="8575" l="14707" r="-13016" t="0"/>
          <a:stretch/>
        </p:blipFill>
        <p:spPr>
          <a:xfrm>
            <a:off x="13753025" y="2655600"/>
            <a:ext cx="10618500" cy="475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2"/>
          <p:cNvGrpSpPr/>
          <p:nvPr/>
        </p:nvGrpSpPr>
        <p:grpSpPr>
          <a:xfrm>
            <a:off x="773083" y="987143"/>
            <a:ext cx="16741721" cy="9299930"/>
            <a:chOff x="0" y="-38100"/>
            <a:chExt cx="5441100" cy="3022500"/>
          </a:xfrm>
        </p:grpSpPr>
        <p:sp>
          <p:nvSpPr>
            <p:cNvPr id="163" name="Google Shape;163;p12"/>
            <p:cNvSpPr/>
            <p:nvPr/>
          </p:nvSpPr>
          <p:spPr>
            <a:xfrm>
              <a:off x="0" y="0"/>
              <a:ext cx="5441100" cy="2984357"/>
            </a:xfrm>
            <a:custGeom>
              <a:rect b="b" l="l" r="r" t="t"/>
              <a:pathLst>
                <a:path extrusionOk="0" h="2984357" w="5441100">
                  <a:moveTo>
                    <a:pt x="23121" y="0"/>
                  </a:moveTo>
                  <a:lnTo>
                    <a:pt x="5417979" y="0"/>
                  </a:lnTo>
                  <a:cubicBezTo>
                    <a:pt x="5424111" y="0"/>
                    <a:pt x="5429992" y="2436"/>
                    <a:pt x="5434328" y="6772"/>
                  </a:cubicBezTo>
                  <a:cubicBezTo>
                    <a:pt x="5438665" y="11108"/>
                    <a:pt x="5441100" y="16989"/>
                    <a:pt x="5441100" y="23121"/>
                  </a:cubicBezTo>
                  <a:lnTo>
                    <a:pt x="5441100" y="2961235"/>
                  </a:lnTo>
                  <a:cubicBezTo>
                    <a:pt x="5441100" y="2967367"/>
                    <a:pt x="5438665" y="2973248"/>
                    <a:pt x="5434328" y="2977585"/>
                  </a:cubicBezTo>
                  <a:cubicBezTo>
                    <a:pt x="5429992" y="2981921"/>
                    <a:pt x="5424111" y="2984357"/>
                    <a:pt x="5417979" y="2984357"/>
                  </a:cubicBezTo>
                  <a:lnTo>
                    <a:pt x="23121" y="2984357"/>
                  </a:lnTo>
                  <a:cubicBezTo>
                    <a:pt x="16989" y="2984357"/>
                    <a:pt x="11108" y="2981921"/>
                    <a:pt x="6772" y="2977585"/>
                  </a:cubicBezTo>
                  <a:cubicBezTo>
                    <a:pt x="2436" y="2973248"/>
                    <a:pt x="0" y="2967367"/>
                    <a:pt x="0" y="2961235"/>
                  </a:cubicBezTo>
                  <a:lnTo>
                    <a:pt x="0" y="23121"/>
                  </a:lnTo>
                  <a:cubicBezTo>
                    <a:pt x="0" y="16989"/>
                    <a:pt x="2436" y="11108"/>
                    <a:pt x="6772" y="6772"/>
                  </a:cubicBezTo>
                  <a:cubicBezTo>
                    <a:pt x="11108" y="2436"/>
                    <a:pt x="16989" y="0"/>
                    <a:pt x="2312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2"/>
            <p:cNvSpPr txBox="1"/>
            <p:nvPr/>
          </p:nvSpPr>
          <p:spPr>
            <a:xfrm>
              <a:off x="0" y="-38100"/>
              <a:ext cx="5441100" cy="30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12"/>
          <p:cNvSpPr/>
          <p:nvPr/>
        </p:nvSpPr>
        <p:spPr>
          <a:xfrm>
            <a:off x="2928680" y="1391152"/>
            <a:ext cx="12430641" cy="8662075"/>
          </a:xfrm>
          <a:custGeom>
            <a:rect b="b" l="l" r="r" t="t"/>
            <a:pathLst>
              <a:path extrusionOk="0" h="8662075" w="12430641">
                <a:moveTo>
                  <a:pt x="0" y="0"/>
                </a:moveTo>
                <a:lnTo>
                  <a:pt x="12430640" y="0"/>
                </a:lnTo>
                <a:lnTo>
                  <a:pt x="12430640" y="8662075"/>
                </a:lnTo>
                <a:lnTo>
                  <a:pt x="0" y="8662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2"/>
          <p:cNvSpPr txBox="1"/>
          <p:nvPr/>
        </p:nvSpPr>
        <p:spPr>
          <a:xfrm>
            <a:off x="2928680" y="75565"/>
            <a:ext cx="124305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Xử lý dữ liệu bằng Spark</a:t>
            </a:r>
            <a:endParaRPr b="1"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5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15"/>
          <p:cNvGrpSpPr/>
          <p:nvPr/>
        </p:nvGrpSpPr>
        <p:grpSpPr>
          <a:xfrm>
            <a:off x="517467" y="1014419"/>
            <a:ext cx="16741833" cy="9299861"/>
            <a:chOff x="0" y="-38100"/>
            <a:chExt cx="5441100" cy="3022457"/>
          </a:xfrm>
        </p:grpSpPr>
        <p:sp>
          <p:nvSpPr>
            <p:cNvPr id="172" name="Google Shape;172;p15"/>
            <p:cNvSpPr/>
            <p:nvPr/>
          </p:nvSpPr>
          <p:spPr>
            <a:xfrm>
              <a:off x="0" y="0"/>
              <a:ext cx="5441100" cy="2984357"/>
            </a:xfrm>
            <a:custGeom>
              <a:rect b="b" l="l" r="r" t="t"/>
              <a:pathLst>
                <a:path extrusionOk="0" h="2984357" w="5441100">
                  <a:moveTo>
                    <a:pt x="23121" y="0"/>
                  </a:moveTo>
                  <a:lnTo>
                    <a:pt x="5417979" y="0"/>
                  </a:lnTo>
                  <a:cubicBezTo>
                    <a:pt x="5424111" y="0"/>
                    <a:pt x="5429992" y="2436"/>
                    <a:pt x="5434328" y="6772"/>
                  </a:cubicBezTo>
                  <a:cubicBezTo>
                    <a:pt x="5438665" y="11108"/>
                    <a:pt x="5441100" y="16989"/>
                    <a:pt x="5441100" y="23121"/>
                  </a:cubicBezTo>
                  <a:lnTo>
                    <a:pt x="5441100" y="2961235"/>
                  </a:lnTo>
                  <a:cubicBezTo>
                    <a:pt x="5441100" y="2967367"/>
                    <a:pt x="5438665" y="2973248"/>
                    <a:pt x="5434328" y="2977585"/>
                  </a:cubicBezTo>
                  <a:cubicBezTo>
                    <a:pt x="5429992" y="2981921"/>
                    <a:pt x="5424111" y="2984357"/>
                    <a:pt x="5417979" y="2984357"/>
                  </a:cubicBezTo>
                  <a:lnTo>
                    <a:pt x="23121" y="2984357"/>
                  </a:lnTo>
                  <a:cubicBezTo>
                    <a:pt x="16989" y="2984357"/>
                    <a:pt x="11108" y="2981921"/>
                    <a:pt x="6772" y="2977585"/>
                  </a:cubicBezTo>
                  <a:cubicBezTo>
                    <a:pt x="2436" y="2973248"/>
                    <a:pt x="0" y="2967367"/>
                    <a:pt x="0" y="2961235"/>
                  </a:cubicBezTo>
                  <a:lnTo>
                    <a:pt x="0" y="23121"/>
                  </a:lnTo>
                  <a:cubicBezTo>
                    <a:pt x="0" y="16989"/>
                    <a:pt x="2436" y="11108"/>
                    <a:pt x="6772" y="6772"/>
                  </a:cubicBezTo>
                  <a:cubicBezTo>
                    <a:pt x="11108" y="2436"/>
                    <a:pt x="16989" y="0"/>
                    <a:pt x="2312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5"/>
            <p:cNvSpPr txBox="1"/>
            <p:nvPr/>
          </p:nvSpPr>
          <p:spPr>
            <a:xfrm>
              <a:off x="0" y="-38100"/>
              <a:ext cx="5441100" cy="3022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15"/>
          <p:cNvSpPr/>
          <p:nvPr/>
        </p:nvSpPr>
        <p:spPr>
          <a:xfrm>
            <a:off x="517467" y="1720963"/>
            <a:ext cx="5937229" cy="4953652"/>
          </a:xfrm>
          <a:custGeom>
            <a:rect b="b" l="l" r="r" t="t"/>
            <a:pathLst>
              <a:path extrusionOk="0" h="4953652" w="5937229">
                <a:moveTo>
                  <a:pt x="0" y="0"/>
                </a:moveTo>
                <a:lnTo>
                  <a:pt x="5937229" y="0"/>
                </a:lnTo>
                <a:lnTo>
                  <a:pt x="5937229" y="4953651"/>
                </a:lnTo>
                <a:lnTo>
                  <a:pt x="0" y="49536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15"/>
          <p:cNvSpPr/>
          <p:nvPr/>
        </p:nvSpPr>
        <p:spPr>
          <a:xfrm>
            <a:off x="6627783" y="2240848"/>
            <a:ext cx="10631417" cy="3913916"/>
          </a:xfrm>
          <a:custGeom>
            <a:rect b="b" l="l" r="r" t="t"/>
            <a:pathLst>
              <a:path extrusionOk="0" h="3913916" w="10631417">
                <a:moveTo>
                  <a:pt x="0" y="0"/>
                </a:moveTo>
                <a:lnTo>
                  <a:pt x="10631417" y="0"/>
                </a:lnTo>
                <a:lnTo>
                  <a:pt x="10631417" y="3913916"/>
                </a:lnTo>
                <a:lnTo>
                  <a:pt x="0" y="3913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15"/>
          <p:cNvSpPr txBox="1"/>
          <p:nvPr/>
        </p:nvSpPr>
        <p:spPr>
          <a:xfrm>
            <a:off x="2928680" y="75565"/>
            <a:ext cx="124305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Xử lý dữ liệu bằng Spark</a:t>
            </a:r>
            <a:endParaRPr b="1"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5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7" name="Google Shape;177;p15"/>
          <p:cNvPicPr preferRelativeResize="0"/>
          <p:nvPr/>
        </p:nvPicPr>
        <p:blipFill rotWithShape="1">
          <a:blip r:embed="rId5">
            <a:alphaModFix/>
          </a:blip>
          <a:srcRect b="0" l="0" r="19775" t="0"/>
          <a:stretch/>
        </p:blipFill>
        <p:spPr>
          <a:xfrm>
            <a:off x="773110" y="7063700"/>
            <a:ext cx="16230452" cy="20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g2aa97f07cca_1_93"/>
          <p:cNvGrpSpPr/>
          <p:nvPr/>
        </p:nvGrpSpPr>
        <p:grpSpPr>
          <a:xfrm>
            <a:off x="517467" y="1014420"/>
            <a:ext cx="16741721" cy="9299930"/>
            <a:chOff x="0" y="-38100"/>
            <a:chExt cx="5441100" cy="3022500"/>
          </a:xfrm>
        </p:grpSpPr>
        <p:sp>
          <p:nvSpPr>
            <p:cNvPr id="183" name="Google Shape;183;g2aa97f07cca_1_93"/>
            <p:cNvSpPr/>
            <p:nvPr/>
          </p:nvSpPr>
          <p:spPr>
            <a:xfrm>
              <a:off x="0" y="0"/>
              <a:ext cx="5441100" cy="2984357"/>
            </a:xfrm>
            <a:custGeom>
              <a:rect b="b" l="l" r="r" t="t"/>
              <a:pathLst>
                <a:path extrusionOk="0" h="2984357" w="5441100">
                  <a:moveTo>
                    <a:pt x="23121" y="0"/>
                  </a:moveTo>
                  <a:lnTo>
                    <a:pt x="5417979" y="0"/>
                  </a:lnTo>
                  <a:cubicBezTo>
                    <a:pt x="5424111" y="0"/>
                    <a:pt x="5429992" y="2436"/>
                    <a:pt x="5434328" y="6772"/>
                  </a:cubicBezTo>
                  <a:cubicBezTo>
                    <a:pt x="5438665" y="11108"/>
                    <a:pt x="5441100" y="16989"/>
                    <a:pt x="5441100" y="23121"/>
                  </a:cubicBezTo>
                  <a:lnTo>
                    <a:pt x="5441100" y="2961235"/>
                  </a:lnTo>
                  <a:cubicBezTo>
                    <a:pt x="5441100" y="2967367"/>
                    <a:pt x="5438665" y="2973248"/>
                    <a:pt x="5434328" y="2977585"/>
                  </a:cubicBezTo>
                  <a:cubicBezTo>
                    <a:pt x="5429992" y="2981921"/>
                    <a:pt x="5424111" y="2984357"/>
                    <a:pt x="5417979" y="2984357"/>
                  </a:cubicBezTo>
                  <a:lnTo>
                    <a:pt x="23121" y="2984357"/>
                  </a:lnTo>
                  <a:cubicBezTo>
                    <a:pt x="16989" y="2984357"/>
                    <a:pt x="11108" y="2981921"/>
                    <a:pt x="6772" y="2977585"/>
                  </a:cubicBezTo>
                  <a:cubicBezTo>
                    <a:pt x="2436" y="2973248"/>
                    <a:pt x="0" y="2967367"/>
                    <a:pt x="0" y="2961235"/>
                  </a:cubicBezTo>
                  <a:lnTo>
                    <a:pt x="0" y="23121"/>
                  </a:lnTo>
                  <a:cubicBezTo>
                    <a:pt x="0" y="16989"/>
                    <a:pt x="2436" y="11108"/>
                    <a:pt x="6772" y="6772"/>
                  </a:cubicBezTo>
                  <a:cubicBezTo>
                    <a:pt x="11108" y="2436"/>
                    <a:pt x="16989" y="0"/>
                    <a:pt x="2312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g2aa97f07cca_1_93"/>
            <p:cNvSpPr txBox="1"/>
            <p:nvPr/>
          </p:nvSpPr>
          <p:spPr>
            <a:xfrm>
              <a:off x="0" y="-38100"/>
              <a:ext cx="5441100" cy="30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g2aa97f07cca_1_93"/>
          <p:cNvSpPr txBox="1"/>
          <p:nvPr/>
        </p:nvSpPr>
        <p:spPr>
          <a:xfrm>
            <a:off x="2928680" y="75565"/>
            <a:ext cx="124305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Xử lý dữ liệu bằng Spark</a:t>
            </a:r>
            <a:endParaRPr b="1"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5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6" name="Google Shape;186;g2aa97f07cca_1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425" y="1560128"/>
            <a:ext cx="14964125" cy="849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g2aa97f07cca_2_5"/>
          <p:cNvGrpSpPr/>
          <p:nvPr/>
        </p:nvGrpSpPr>
        <p:grpSpPr>
          <a:xfrm>
            <a:off x="773083" y="987143"/>
            <a:ext cx="16741721" cy="9299930"/>
            <a:chOff x="0" y="-38100"/>
            <a:chExt cx="5441100" cy="3022500"/>
          </a:xfrm>
        </p:grpSpPr>
        <p:sp>
          <p:nvSpPr>
            <p:cNvPr id="192" name="Google Shape;192;g2aa97f07cca_2_5"/>
            <p:cNvSpPr/>
            <p:nvPr/>
          </p:nvSpPr>
          <p:spPr>
            <a:xfrm>
              <a:off x="0" y="0"/>
              <a:ext cx="5441100" cy="2984357"/>
            </a:xfrm>
            <a:custGeom>
              <a:rect b="b" l="l" r="r" t="t"/>
              <a:pathLst>
                <a:path extrusionOk="0" h="2984357" w="5441100">
                  <a:moveTo>
                    <a:pt x="23121" y="0"/>
                  </a:moveTo>
                  <a:lnTo>
                    <a:pt x="5417979" y="0"/>
                  </a:lnTo>
                  <a:cubicBezTo>
                    <a:pt x="5424111" y="0"/>
                    <a:pt x="5429992" y="2436"/>
                    <a:pt x="5434328" y="6772"/>
                  </a:cubicBezTo>
                  <a:cubicBezTo>
                    <a:pt x="5438665" y="11108"/>
                    <a:pt x="5441100" y="16989"/>
                    <a:pt x="5441100" y="23121"/>
                  </a:cubicBezTo>
                  <a:lnTo>
                    <a:pt x="5441100" y="2961235"/>
                  </a:lnTo>
                  <a:cubicBezTo>
                    <a:pt x="5441100" y="2967367"/>
                    <a:pt x="5438665" y="2973248"/>
                    <a:pt x="5434328" y="2977585"/>
                  </a:cubicBezTo>
                  <a:cubicBezTo>
                    <a:pt x="5429992" y="2981921"/>
                    <a:pt x="5424111" y="2984357"/>
                    <a:pt x="5417979" y="2984357"/>
                  </a:cubicBezTo>
                  <a:lnTo>
                    <a:pt x="23121" y="2984357"/>
                  </a:lnTo>
                  <a:cubicBezTo>
                    <a:pt x="16989" y="2984357"/>
                    <a:pt x="11108" y="2981921"/>
                    <a:pt x="6772" y="2977585"/>
                  </a:cubicBezTo>
                  <a:cubicBezTo>
                    <a:pt x="2436" y="2973248"/>
                    <a:pt x="0" y="2967367"/>
                    <a:pt x="0" y="2961235"/>
                  </a:cubicBezTo>
                  <a:lnTo>
                    <a:pt x="0" y="23121"/>
                  </a:lnTo>
                  <a:cubicBezTo>
                    <a:pt x="0" y="16989"/>
                    <a:pt x="2436" y="11108"/>
                    <a:pt x="6772" y="6772"/>
                  </a:cubicBezTo>
                  <a:cubicBezTo>
                    <a:pt x="11108" y="2436"/>
                    <a:pt x="16989" y="0"/>
                    <a:pt x="2312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g2aa97f07cca_2_5"/>
            <p:cNvSpPr txBox="1"/>
            <p:nvPr/>
          </p:nvSpPr>
          <p:spPr>
            <a:xfrm>
              <a:off x="0" y="-38100"/>
              <a:ext cx="5441100" cy="30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g2aa97f07cca_2_5"/>
          <p:cNvSpPr txBox="1"/>
          <p:nvPr/>
        </p:nvSpPr>
        <p:spPr>
          <a:xfrm>
            <a:off x="2928680" y="75565"/>
            <a:ext cx="124305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Spark Master</a:t>
            </a:r>
            <a:endParaRPr b="1"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5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g2aa97f07cca_2_5"/>
          <p:cNvSpPr/>
          <p:nvPr/>
        </p:nvSpPr>
        <p:spPr>
          <a:xfrm>
            <a:off x="961163" y="1333075"/>
            <a:ext cx="16365686" cy="7957403"/>
          </a:xfrm>
          <a:custGeom>
            <a:rect b="b" l="l" r="r" t="t"/>
            <a:pathLst>
              <a:path extrusionOk="0" h="8792711" w="18083631">
                <a:moveTo>
                  <a:pt x="0" y="0"/>
                </a:moveTo>
                <a:lnTo>
                  <a:pt x="18083631" y="0"/>
                </a:lnTo>
                <a:lnTo>
                  <a:pt x="18083631" y="8792711"/>
                </a:lnTo>
                <a:lnTo>
                  <a:pt x="0" y="879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g2aa97f07cca_2_46"/>
          <p:cNvGrpSpPr/>
          <p:nvPr/>
        </p:nvGrpSpPr>
        <p:grpSpPr>
          <a:xfrm>
            <a:off x="773083" y="987143"/>
            <a:ext cx="16741721" cy="9299930"/>
            <a:chOff x="0" y="-38100"/>
            <a:chExt cx="5441100" cy="3022500"/>
          </a:xfrm>
        </p:grpSpPr>
        <p:sp>
          <p:nvSpPr>
            <p:cNvPr id="201" name="Google Shape;201;g2aa97f07cca_2_46"/>
            <p:cNvSpPr/>
            <p:nvPr/>
          </p:nvSpPr>
          <p:spPr>
            <a:xfrm>
              <a:off x="0" y="0"/>
              <a:ext cx="5441100" cy="2984357"/>
            </a:xfrm>
            <a:custGeom>
              <a:rect b="b" l="l" r="r" t="t"/>
              <a:pathLst>
                <a:path extrusionOk="0" h="2984357" w="5441100">
                  <a:moveTo>
                    <a:pt x="23121" y="0"/>
                  </a:moveTo>
                  <a:lnTo>
                    <a:pt x="5417979" y="0"/>
                  </a:lnTo>
                  <a:cubicBezTo>
                    <a:pt x="5424111" y="0"/>
                    <a:pt x="5429992" y="2436"/>
                    <a:pt x="5434328" y="6772"/>
                  </a:cubicBezTo>
                  <a:cubicBezTo>
                    <a:pt x="5438665" y="11108"/>
                    <a:pt x="5441100" y="16989"/>
                    <a:pt x="5441100" y="23121"/>
                  </a:cubicBezTo>
                  <a:lnTo>
                    <a:pt x="5441100" y="2961235"/>
                  </a:lnTo>
                  <a:cubicBezTo>
                    <a:pt x="5441100" y="2967367"/>
                    <a:pt x="5438665" y="2973248"/>
                    <a:pt x="5434328" y="2977585"/>
                  </a:cubicBezTo>
                  <a:cubicBezTo>
                    <a:pt x="5429992" y="2981921"/>
                    <a:pt x="5424111" y="2984357"/>
                    <a:pt x="5417979" y="2984357"/>
                  </a:cubicBezTo>
                  <a:lnTo>
                    <a:pt x="23121" y="2984357"/>
                  </a:lnTo>
                  <a:cubicBezTo>
                    <a:pt x="16989" y="2984357"/>
                    <a:pt x="11108" y="2981921"/>
                    <a:pt x="6772" y="2977585"/>
                  </a:cubicBezTo>
                  <a:cubicBezTo>
                    <a:pt x="2436" y="2973248"/>
                    <a:pt x="0" y="2967367"/>
                    <a:pt x="0" y="2961235"/>
                  </a:cubicBezTo>
                  <a:lnTo>
                    <a:pt x="0" y="23121"/>
                  </a:lnTo>
                  <a:cubicBezTo>
                    <a:pt x="0" y="16989"/>
                    <a:pt x="2436" y="11108"/>
                    <a:pt x="6772" y="6772"/>
                  </a:cubicBezTo>
                  <a:cubicBezTo>
                    <a:pt x="11108" y="2436"/>
                    <a:pt x="16989" y="0"/>
                    <a:pt x="2312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g2aa97f07cca_2_46"/>
            <p:cNvSpPr txBox="1"/>
            <p:nvPr/>
          </p:nvSpPr>
          <p:spPr>
            <a:xfrm>
              <a:off x="0" y="-38100"/>
              <a:ext cx="5441100" cy="30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g2aa97f07cca_2_46"/>
          <p:cNvSpPr txBox="1"/>
          <p:nvPr/>
        </p:nvSpPr>
        <p:spPr>
          <a:xfrm>
            <a:off x="2928680" y="75565"/>
            <a:ext cx="12430500" cy="20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34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4. ELASTIC-SEARCH</a:t>
            </a:r>
            <a:endParaRPr b="1"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5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g2aa97f07cca_2_46"/>
          <p:cNvSpPr/>
          <p:nvPr/>
        </p:nvSpPr>
        <p:spPr>
          <a:xfrm>
            <a:off x="2749970" y="1121564"/>
            <a:ext cx="13121822" cy="9031086"/>
          </a:xfrm>
          <a:custGeom>
            <a:rect b="b" l="l" r="r" t="t"/>
            <a:pathLst>
              <a:path extrusionOk="0" h="9031086" w="13121822">
                <a:moveTo>
                  <a:pt x="0" y="0"/>
                </a:moveTo>
                <a:lnTo>
                  <a:pt x="13121822" y="0"/>
                </a:lnTo>
                <a:lnTo>
                  <a:pt x="13121822" y="9031086"/>
                </a:lnTo>
                <a:lnTo>
                  <a:pt x="0" y="90310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g2aa97f07cca_2_54"/>
          <p:cNvGrpSpPr/>
          <p:nvPr/>
        </p:nvGrpSpPr>
        <p:grpSpPr>
          <a:xfrm>
            <a:off x="773083" y="987143"/>
            <a:ext cx="16741721" cy="9299930"/>
            <a:chOff x="0" y="-38100"/>
            <a:chExt cx="5441100" cy="3022500"/>
          </a:xfrm>
        </p:grpSpPr>
        <p:sp>
          <p:nvSpPr>
            <p:cNvPr id="210" name="Google Shape;210;g2aa97f07cca_2_54"/>
            <p:cNvSpPr/>
            <p:nvPr/>
          </p:nvSpPr>
          <p:spPr>
            <a:xfrm>
              <a:off x="0" y="0"/>
              <a:ext cx="5441100" cy="2984357"/>
            </a:xfrm>
            <a:custGeom>
              <a:rect b="b" l="l" r="r" t="t"/>
              <a:pathLst>
                <a:path extrusionOk="0" h="2984357" w="5441100">
                  <a:moveTo>
                    <a:pt x="23121" y="0"/>
                  </a:moveTo>
                  <a:lnTo>
                    <a:pt x="5417979" y="0"/>
                  </a:lnTo>
                  <a:cubicBezTo>
                    <a:pt x="5424111" y="0"/>
                    <a:pt x="5429992" y="2436"/>
                    <a:pt x="5434328" y="6772"/>
                  </a:cubicBezTo>
                  <a:cubicBezTo>
                    <a:pt x="5438665" y="11108"/>
                    <a:pt x="5441100" y="16989"/>
                    <a:pt x="5441100" y="23121"/>
                  </a:cubicBezTo>
                  <a:lnTo>
                    <a:pt x="5441100" y="2961235"/>
                  </a:lnTo>
                  <a:cubicBezTo>
                    <a:pt x="5441100" y="2967367"/>
                    <a:pt x="5438665" y="2973248"/>
                    <a:pt x="5434328" y="2977585"/>
                  </a:cubicBezTo>
                  <a:cubicBezTo>
                    <a:pt x="5429992" y="2981921"/>
                    <a:pt x="5424111" y="2984357"/>
                    <a:pt x="5417979" y="2984357"/>
                  </a:cubicBezTo>
                  <a:lnTo>
                    <a:pt x="23121" y="2984357"/>
                  </a:lnTo>
                  <a:cubicBezTo>
                    <a:pt x="16989" y="2984357"/>
                    <a:pt x="11108" y="2981921"/>
                    <a:pt x="6772" y="2977585"/>
                  </a:cubicBezTo>
                  <a:cubicBezTo>
                    <a:pt x="2436" y="2973248"/>
                    <a:pt x="0" y="2967367"/>
                    <a:pt x="0" y="2961235"/>
                  </a:cubicBezTo>
                  <a:lnTo>
                    <a:pt x="0" y="23121"/>
                  </a:lnTo>
                  <a:cubicBezTo>
                    <a:pt x="0" y="16989"/>
                    <a:pt x="2436" y="11108"/>
                    <a:pt x="6772" y="6772"/>
                  </a:cubicBezTo>
                  <a:cubicBezTo>
                    <a:pt x="11108" y="2436"/>
                    <a:pt x="16989" y="0"/>
                    <a:pt x="2312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g2aa97f07cca_2_54"/>
            <p:cNvSpPr txBox="1"/>
            <p:nvPr/>
          </p:nvSpPr>
          <p:spPr>
            <a:xfrm>
              <a:off x="0" y="-38100"/>
              <a:ext cx="5441100" cy="30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g2aa97f07cca_2_54"/>
          <p:cNvSpPr txBox="1"/>
          <p:nvPr/>
        </p:nvSpPr>
        <p:spPr>
          <a:xfrm>
            <a:off x="2928680" y="75565"/>
            <a:ext cx="12430500" cy="20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34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5. Kibana</a:t>
            </a:r>
            <a:endParaRPr b="1"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5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g2aa97f07cca_2_54"/>
          <p:cNvSpPr/>
          <p:nvPr/>
        </p:nvSpPr>
        <p:spPr>
          <a:xfrm>
            <a:off x="1580263" y="1111638"/>
            <a:ext cx="15127481" cy="9050941"/>
          </a:xfrm>
          <a:custGeom>
            <a:rect b="b" l="l" r="r" t="t"/>
            <a:pathLst>
              <a:path extrusionOk="0" h="10112783" w="16902213">
                <a:moveTo>
                  <a:pt x="0" y="0"/>
                </a:moveTo>
                <a:lnTo>
                  <a:pt x="16902213" y="0"/>
                </a:lnTo>
                <a:lnTo>
                  <a:pt x="16902213" y="10112783"/>
                </a:lnTo>
                <a:lnTo>
                  <a:pt x="0" y="10112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569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g2aa97f07cca_1_38"/>
          <p:cNvGrpSpPr/>
          <p:nvPr/>
        </p:nvGrpSpPr>
        <p:grpSpPr>
          <a:xfrm>
            <a:off x="773083" y="987143"/>
            <a:ext cx="16741721" cy="9299930"/>
            <a:chOff x="0" y="-38100"/>
            <a:chExt cx="5441100" cy="3022500"/>
          </a:xfrm>
        </p:grpSpPr>
        <p:sp>
          <p:nvSpPr>
            <p:cNvPr id="219" name="Google Shape;219;g2aa97f07cca_1_38"/>
            <p:cNvSpPr/>
            <p:nvPr/>
          </p:nvSpPr>
          <p:spPr>
            <a:xfrm>
              <a:off x="0" y="0"/>
              <a:ext cx="5441100" cy="2984357"/>
            </a:xfrm>
            <a:custGeom>
              <a:rect b="b" l="l" r="r" t="t"/>
              <a:pathLst>
                <a:path extrusionOk="0" h="2984357" w="5441100">
                  <a:moveTo>
                    <a:pt x="23121" y="0"/>
                  </a:moveTo>
                  <a:lnTo>
                    <a:pt x="5417979" y="0"/>
                  </a:lnTo>
                  <a:cubicBezTo>
                    <a:pt x="5424111" y="0"/>
                    <a:pt x="5429992" y="2436"/>
                    <a:pt x="5434328" y="6772"/>
                  </a:cubicBezTo>
                  <a:cubicBezTo>
                    <a:pt x="5438665" y="11108"/>
                    <a:pt x="5441100" y="16989"/>
                    <a:pt x="5441100" y="23121"/>
                  </a:cubicBezTo>
                  <a:lnTo>
                    <a:pt x="5441100" y="2961235"/>
                  </a:lnTo>
                  <a:cubicBezTo>
                    <a:pt x="5441100" y="2967367"/>
                    <a:pt x="5438665" y="2973248"/>
                    <a:pt x="5434328" y="2977585"/>
                  </a:cubicBezTo>
                  <a:cubicBezTo>
                    <a:pt x="5429992" y="2981921"/>
                    <a:pt x="5424111" y="2984357"/>
                    <a:pt x="5417979" y="2984357"/>
                  </a:cubicBezTo>
                  <a:lnTo>
                    <a:pt x="23121" y="2984357"/>
                  </a:lnTo>
                  <a:cubicBezTo>
                    <a:pt x="16989" y="2984357"/>
                    <a:pt x="11108" y="2981921"/>
                    <a:pt x="6772" y="2977585"/>
                  </a:cubicBezTo>
                  <a:cubicBezTo>
                    <a:pt x="2436" y="2973248"/>
                    <a:pt x="0" y="2967367"/>
                    <a:pt x="0" y="2961235"/>
                  </a:cubicBezTo>
                  <a:lnTo>
                    <a:pt x="0" y="23121"/>
                  </a:lnTo>
                  <a:cubicBezTo>
                    <a:pt x="0" y="16989"/>
                    <a:pt x="2436" y="11108"/>
                    <a:pt x="6772" y="6772"/>
                  </a:cubicBezTo>
                  <a:cubicBezTo>
                    <a:pt x="11108" y="2436"/>
                    <a:pt x="16989" y="0"/>
                    <a:pt x="2312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g2aa97f07cca_1_38"/>
            <p:cNvSpPr txBox="1"/>
            <p:nvPr/>
          </p:nvSpPr>
          <p:spPr>
            <a:xfrm>
              <a:off x="0" y="-38100"/>
              <a:ext cx="5441100" cy="30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g2aa97f07cca_1_38"/>
          <p:cNvSpPr txBox="1"/>
          <p:nvPr/>
        </p:nvSpPr>
        <p:spPr>
          <a:xfrm>
            <a:off x="541200" y="75575"/>
            <a:ext cx="17207100" cy="20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34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5. D</a:t>
            </a:r>
            <a:r>
              <a:rPr b="1" lang="en-US" sz="5434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ữ liệu được lưu trên ElasticSearch</a:t>
            </a:r>
            <a:endParaRPr b="1"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5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2" name="Google Shape;222;g2aa97f07cca_1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150" y="1264363"/>
            <a:ext cx="15946176" cy="874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16"/>
          <p:cNvGrpSpPr/>
          <p:nvPr/>
        </p:nvGrpSpPr>
        <p:grpSpPr>
          <a:xfrm>
            <a:off x="517467" y="1149294"/>
            <a:ext cx="16918771" cy="9447307"/>
            <a:chOff x="0" y="-38100"/>
            <a:chExt cx="5498605" cy="3070377"/>
          </a:xfrm>
        </p:grpSpPr>
        <p:sp>
          <p:nvSpPr>
            <p:cNvPr id="228" name="Google Shape;228;p16"/>
            <p:cNvSpPr/>
            <p:nvPr/>
          </p:nvSpPr>
          <p:spPr>
            <a:xfrm>
              <a:off x="0" y="0"/>
              <a:ext cx="5498605" cy="3032277"/>
            </a:xfrm>
            <a:custGeom>
              <a:rect b="b" l="l" r="r" t="t"/>
              <a:pathLst>
                <a:path extrusionOk="0" h="3032277" w="5498605">
                  <a:moveTo>
                    <a:pt x="22880" y="0"/>
                  </a:moveTo>
                  <a:lnTo>
                    <a:pt x="5475726" y="0"/>
                  </a:lnTo>
                  <a:cubicBezTo>
                    <a:pt x="5488362" y="0"/>
                    <a:pt x="5498605" y="10244"/>
                    <a:pt x="5498605" y="22880"/>
                  </a:cubicBezTo>
                  <a:lnTo>
                    <a:pt x="5498605" y="3009398"/>
                  </a:lnTo>
                  <a:cubicBezTo>
                    <a:pt x="5498605" y="3022034"/>
                    <a:pt x="5488362" y="3032277"/>
                    <a:pt x="5475726" y="3032277"/>
                  </a:cubicBezTo>
                  <a:lnTo>
                    <a:pt x="22880" y="3032277"/>
                  </a:lnTo>
                  <a:cubicBezTo>
                    <a:pt x="10244" y="3032277"/>
                    <a:pt x="0" y="3022034"/>
                    <a:pt x="0" y="3009398"/>
                  </a:cubicBezTo>
                  <a:lnTo>
                    <a:pt x="0" y="22880"/>
                  </a:lnTo>
                  <a:cubicBezTo>
                    <a:pt x="0" y="10244"/>
                    <a:pt x="10244" y="0"/>
                    <a:pt x="2288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6"/>
            <p:cNvSpPr txBox="1"/>
            <p:nvPr/>
          </p:nvSpPr>
          <p:spPr>
            <a:xfrm>
              <a:off x="0" y="-38100"/>
              <a:ext cx="5498605" cy="30703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 1.Mối quan hệ giữa lương và các ngôn ngữ lập trình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30" name="Google Shape;230;p16"/>
          <p:cNvSpPr/>
          <p:nvPr/>
        </p:nvSpPr>
        <p:spPr>
          <a:xfrm>
            <a:off x="661552" y="2677427"/>
            <a:ext cx="16630600" cy="7609573"/>
          </a:xfrm>
          <a:custGeom>
            <a:rect b="b" l="l" r="r" t="t"/>
            <a:pathLst>
              <a:path extrusionOk="0" h="7609573" w="16630600">
                <a:moveTo>
                  <a:pt x="0" y="0"/>
                </a:moveTo>
                <a:lnTo>
                  <a:pt x="16630600" y="0"/>
                </a:lnTo>
                <a:lnTo>
                  <a:pt x="16630600" y="7609573"/>
                </a:lnTo>
                <a:lnTo>
                  <a:pt x="0" y="76095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6"/>
          <p:cNvSpPr txBox="1"/>
          <p:nvPr/>
        </p:nvSpPr>
        <p:spPr>
          <a:xfrm>
            <a:off x="2673063" y="75565"/>
            <a:ext cx="1243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99"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i="0" lang="en-US" sz="55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Biểu diễn dữ liệu trên Kibana</a:t>
            </a:r>
            <a:endParaRPr b="1"/>
          </a:p>
        </p:txBody>
      </p:sp>
      <p:sp>
        <p:nvSpPr>
          <p:cNvPr id="232" name="Google Shape;232;p16"/>
          <p:cNvSpPr txBox="1"/>
          <p:nvPr/>
        </p:nvSpPr>
        <p:spPr>
          <a:xfrm>
            <a:off x="979785" y="1592413"/>
            <a:ext cx="11846005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Mối quan hệ giữa lương và các ngôn ngữ lập trình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17"/>
          <p:cNvGrpSpPr/>
          <p:nvPr/>
        </p:nvGrpSpPr>
        <p:grpSpPr>
          <a:xfrm>
            <a:off x="517467" y="1149294"/>
            <a:ext cx="16918771" cy="9447307"/>
            <a:chOff x="0" y="-38100"/>
            <a:chExt cx="5498605" cy="3070377"/>
          </a:xfrm>
        </p:grpSpPr>
        <p:sp>
          <p:nvSpPr>
            <p:cNvPr id="238" name="Google Shape;238;p17"/>
            <p:cNvSpPr/>
            <p:nvPr/>
          </p:nvSpPr>
          <p:spPr>
            <a:xfrm>
              <a:off x="0" y="0"/>
              <a:ext cx="5498605" cy="3032277"/>
            </a:xfrm>
            <a:custGeom>
              <a:rect b="b" l="l" r="r" t="t"/>
              <a:pathLst>
                <a:path extrusionOk="0" h="3032277" w="5498605">
                  <a:moveTo>
                    <a:pt x="22880" y="0"/>
                  </a:moveTo>
                  <a:lnTo>
                    <a:pt x="5475726" y="0"/>
                  </a:lnTo>
                  <a:cubicBezTo>
                    <a:pt x="5488362" y="0"/>
                    <a:pt x="5498605" y="10244"/>
                    <a:pt x="5498605" y="22880"/>
                  </a:cubicBezTo>
                  <a:lnTo>
                    <a:pt x="5498605" y="3009398"/>
                  </a:lnTo>
                  <a:cubicBezTo>
                    <a:pt x="5498605" y="3022034"/>
                    <a:pt x="5488362" y="3032277"/>
                    <a:pt x="5475726" y="3032277"/>
                  </a:cubicBezTo>
                  <a:lnTo>
                    <a:pt x="22880" y="3032277"/>
                  </a:lnTo>
                  <a:cubicBezTo>
                    <a:pt x="10244" y="3032277"/>
                    <a:pt x="0" y="3022034"/>
                    <a:pt x="0" y="3009398"/>
                  </a:cubicBezTo>
                  <a:lnTo>
                    <a:pt x="0" y="22880"/>
                  </a:lnTo>
                  <a:cubicBezTo>
                    <a:pt x="0" y="10244"/>
                    <a:pt x="10244" y="0"/>
                    <a:pt x="2288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7"/>
            <p:cNvSpPr txBox="1"/>
            <p:nvPr/>
          </p:nvSpPr>
          <p:spPr>
            <a:xfrm>
              <a:off x="0" y="-38100"/>
              <a:ext cx="5498605" cy="30703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 1.Mối quan hệ giữa lương và các ngôn ngữ lập trình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40" name="Google Shape;240;p17"/>
          <p:cNvSpPr/>
          <p:nvPr/>
        </p:nvSpPr>
        <p:spPr>
          <a:xfrm>
            <a:off x="517467" y="3266501"/>
            <a:ext cx="16741833" cy="6101635"/>
          </a:xfrm>
          <a:custGeom>
            <a:rect b="b" l="l" r="r" t="t"/>
            <a:pathLst>
              <a:path extrusionOk="0" h="6101635" w="16741833">
                <a:moveTo>
                  <a:pt x="0" y="0"/>
                </a:moveTo>
                <a:lnTo>
                  <a:pt x="16741833" y="0"/>
                </a:lnTo>
                <a:lnTo>
                  <a:pt x="16741833" y="6101635"/>
                </a:lnTo>
                <a:lnTo>
                  <a:pt x="0" y="61016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17"/>
          <p:cNvSpPr txBox="1"/>
          <p:nvPr/>
        </p:nvSpPr>
        <p:spPr>
          <a:xfrm>
            <a:off x="2673063" y="75565"/>
            <a:ext cx="1243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99"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i="0" lang="en-US" sz="55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Biểu diễn dữ liệu trên Kibana</a:t>
            </a:r>
            <a:endParaRPr b="1"/>
          </a:p>
        </p:txBody>
      </p:sp>
      <p:sp>
        <p:nvSpPr>
          <p:cNvPr id="242" name="Google Shape;242;p17"/>
          <p:cNvSpPr txBox="1"/>
          <p:nvPr/>
        </p:nvSpPr>
        <p:spPr>
          <a:xfrm>
            <a:off x="517467" y="1415475"/>
            <a:ext cx="9323150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Mối quan hệ giữa lương, kinh nghiệm, số tuổi của các vị trí trong công 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18"/>
          <p:cNvGrpSpPr/>
          <p:nvPr/>
        </p:nvGrpSpPr>
        <p:grpSpPr>
          <a:xfrm>
            <a:off x="517467" y="1149294"/>
            <a:ext cx="16918771" cy="9447307"/>
            <a:chOff x="0" y="-38100"/>
            <a:chExt cx="5498605" cy="3070377"/>
          </a:xfrm>
        </p:grpSpPr>
        <p:sp>
          <p:nvSpPr>
            <p:cNvPr id="248" name="Google Shape;248;p18"/>
            <p:cNvSpPr/>
            <p:nvPr/>
          </p:nvSpPr>
          <p:spPr>
            <a:xfrm>
              <a:off x="0" y="0"/>
              <a:ext cx="5498605" cy="3032277"/>
            </a:xfrm>
            <a:custGeom>
              <a:rect b="b" l="l" r="r" t="t"/>
              <a:pathLst>
                <a:path extrusionOk="0" h="3032277" w="5498605">
                  <a:moveTo>
                    <a:pt x="22880" y="0"/>
                  </a:moveTo>
                  <a:lnTo>
                    <a:pt x="5475726" y="0"/>
                  </a:lnTo>
                  <a:cubicBezTo>
                    <a:pt x="5488362" y="0"/>
                    <a:pt x="5498605" y="10244"/>
                    <a:pt x="5498605" y="22880"/>
                  </a:cubicBezTo>
                  <a:lnTo>
                    <a:pt x="5498605" y="3009398"/>
                  </a:lnTo>
                  <a:cubicBezTo>
                    <a:pt x="5498605" y="3022034"/>
                    <a:pt x="5488362" y="3032277"/>
                    <a:pt x="5475726" y="3032277"/>
                  </a:cubicBezTo>
                  <a:lnTo>
                    <a:pt x="22880" y="3032277"/>
                  </a:lnTo>
                  <a:cubicBezTo>
                    <a:pt x="10244" y="3032277"/>
                    <a:pt x="0" y="3022034"/>
                    <a:pt x="0" y="3009398"/>
                  </a:cubicBezTo>
                  <a:lnTo>
                    <a:pt x="0" y="22880"/>
                  </a:lnTo>
                  <a:cubicBezTo>
                    <a:pt x="0" y="10244"/>
                    <a:pt x="10244" y="0"/>
                    <a:pt x="2288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8"/>
            <p:cNvSpPr txBox="1"/>
            <p:nvPr/>
          </p:nvSpPr>
          <p:spPr>
            <a:xfrm>
              <a:off x="0" y="-38100"/>
              <a:ext cx="5498605" cy="30703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 1.Mối quan hệ giữa lương và các ngôn ngữ lập trình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1028700" y="3266501"/>
            <a:ext cx="14221622" cy="5199131"/>
          </a:xfrm>
          <a:custGeom>
            <a:rect b="b" l="l" r="r" t="t"/>
            <a:pathLst>
              <a:path extrusionOk="0" h="5199131" w="14221622">
                <a:moveTo>
                  <a:pt x="0" y="0"/>
                </a:moveTo>
                <a:lnTo>
                  <a:pt x="14221622" y="0"/>
                </a:lnTo>
                <a:lnTo>
                  <a:pt x="14221622" y="5199130"/>
                </a:lnTo>
                <a:lnTo>
                  <a:pt x="0" y="5199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8"/>
          <p:cNvSpPr txBox="1"/>
          <p:nvPr/>
        </p:nvSpPr>
        <p:spPr>
          <a:xfrm>
            <a:off x="2673063" y="75565"/>
            <a:ext cx="1243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99"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i="0" lang="en-US" sz="55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Biểu diễn dữ liệu trên Kibana</a:t>
            </a:r>
            <a:endParaRPr b="1"/>
          </a:p>
        </p:txBody>
      </p:sp>
      <p:sp>
        <p:nvSpPr>
          <p:cNvPr id="252" name="Google Shape;252;p18"/>
          <p:cNvSpPr txBox="1"/>
          <p:nvPr/>
        </p:nvSpPr>
        <p:spPr>
          <a:xfrm>
            <a:off x="517467" y="1415475"/>
            <a:ext cx="14586237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Mối quan hệ giữa lương và những phân ngành trong IT</a:t>
            </a:r>
            <a:endParaRPr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9"/>
          <p:cNvGrpSpPr/>
          <p:nvPr/>
        </p:nvGrpSpPr>
        <p:grpSpPr>
          <a:xfrm>
            <a:off x="684615" y="911469"/>
            <a:ext cx="16918771" cy="9447307"/>
            <a:chOff x="0" y="-38100"/>
            <a:chExt cx="5498605" cy="3070377"/>
          </a:xfrm>
        </p:grpSpPr>
        <p:sp>
          <p:nvSpPr>
            <p:cNvPr id="258" name="Google Shape;258;p19"/>
            <p:cNvSpPr/>
            <p:nvPr/>
          </p:nvSpPr>
          <p:spPr>
            <a:xfrm>
              <a:off x="0" y="0"/>
              <a:ext cx="5498605" cy="3032277"/>
            </a:xfrm>
            <a:custGeom>
              <a:rect b="b" l="l" r="r" t="t"/>
              <a:pathLst>
                <a:path extrusionOk="0" h="3032277" w="5498605">
                  <a:moveTo>
                    <a:pt x="22880" y="0"/>
                  </a:moveTo>
                  <a:lnTo>
                    <a:pt x="5475726" y="0"/>
                  </a:lnTo>
                  <a:cubicBezTo>
                    <a:pt x="5488362" y="0"/>
                    <a:pt x="5498605" y="10244"/>
                    <a:pt x="5498605" y="22880"/>
                  </a:cubicBezTo>
                  <a:lnTo>
                    <a:pt x="5498605" y="3009398"/>
                  </a:lnTo>
                  <a:cubicBezTo>
                    <a:pt x="5498605" y="3022034"/>
                    <a:pt x="5488362" y="3032277"/>
                    <a:pt x="5475726" y="3032277"/>
                  </a:cubicBezTo>
                  <a:lnTo>
                    <a:pt x="22880" y="3032277"/>
                  </a:lnTo>
                  <a:cubicBezTo>
                    <a:pt x="10244" y="3032277"/>
                    <a:pt x="0" y="3022034"/>
                    <a:pt x="0" y="3009398"/>
                  </a:cubicBezTo>
                  <a:lnTo>
                    <a:pt x="0" y="22880"/>
                  </a:lnTo>
                  <a:cubicBezTo>
                    <a:pt x="0" y="10244"/>
                    <a:pt x="10244" y="0"/>
                    <a:pt x="2288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0" y="-38100"/>
              <a:ext cx="5498605" cy="30703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 1.Mối quan hệ giữa lương và các ngôn ngữ lập trình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60" name="Google Shape;260;p19"/>
          <p:cNvSpPr/>
          <p:nvPr/>
        </p:nvSpPr>
        <p:spPr>
          <a:xfrm>
            <a:off x="1028700" y="2491200"/>
            <a:ext cx="16230600" cy="7795800"/>
          </a:xfrm>
          <a:custGeom>
            <a:rect b="b" l="l" r="r" t="t"/>
            <a:pathLst>
              <a:path extrusionOk="0" h="7795800" w="16230600">
                <a:moveTo>
                  <a:pt x="0" y="0"/>
                </a:moveTo>
                <a:lnTo>
                  <a:pt x="16230600" y="0"/>
                </a:lnTo>
                <a:lnTo>
                  <a:pt x="16230600" y="7795800"/>
                </a:lnTo>
                <a:lnTo>
                  <a:pt x="0" y="7795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19"/>
          <p:cNvSpPr txBox="1"/>
          <p:nvPr/>
        </p:nvSpPr>
        <p:spPr>
          <a:xfrm>
            <a:off x="2673063" y="75565"/>
            <a:ext cx="1243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99"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i="0" lang="en-US" sz="55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Biểu diễn dữ liệu trên Kibana</a:t>
            </a:r>
            <a:endParaRPr b="1"/>
          </a:p>
        </p:txBody>
      </p:sp>
      <p:sp>
        <p:nvSpPr>
          <p:cNvPr id="262" name="Google Shape;262;p19"/>
          <p:cNvSpPr txBox="1"/>
          <p:nvPr/>
        </p:nvSpPr>
        <p:spPr>
          <a:xfrm>
            <a:off x="1440319" y="1318711"/>
            <a:ext cx="9469279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Mối quan hệ giữa bằng cấp, lương, tuổi</a:t>
            </a:r>
            <a:endParaRPr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0"/>
          <p:cNvGrpSpPr/>
          <p:nvPr/>
        </p:nvGrpSpPr>
        <p:grpSpPr>
          <a:xfrm>
            <a:off x="684615" y="911469"/>
            <a:ext cx="16918771" cy="9447307"/>
            <a:chOff x="0" y="-38100"/>
            <a:chExt cx="5498605" cy="3070377"/>
          </a:xfrm>
        </p:grpSpPr>
        <p:sp>
          <p:nvSpPr>
            <p:cNvPr id="268" name="Google Shape;268;p20"/>
            <p:cNvSpPr/>
            <p:nvPr/>
          </p:nvSpPr>
          <p:spPr>
            <a:xfrm>
              <a:off x="0" y="0"/>
              <a:ext cx="5498605" cy="3032277"/>
            </a:xfrm>
            <a:custGeom>
              <a:rect b="b" l="l" r="r" t="t"/>
              <a:pathLst>
                <a:path extrusionOk="0" h="3032277" w="5498605">
                  <a:moveTo>
                    <a:pt x="22880" y="0"/>
                  </a:moveTo>
                  <a:lnTo>
                    <a:pt x="5475726" y="0"/>
                  </a:lnTo>
                  <a:cubicBezTo>
                    <a:pt x="5488362" y="0"/>
                    <a:pt x="5498605" y="10244"/>
                    <a:pt x="5498605" y="22880"/>
                  </a:cubicBezTo>
                  <a:lnTo>
                    <a:pt x="5498605" y="3009398"/>
                  </a:lnTo>
                  <a:cubicBezTo>
                    <a:pt x="5498605" y="3022034"/>
                    <a:pt x="5488362" y="3032277"/>
                    <a:pt x="5475726" y="3032277"/>
                  </a:cubicBezTo>
                  <a:lnTo>
                    <a:pt x="22880" y="3032277"/>
                  </a:lnTo>
                  <a:cubicBezTo>
                    <a:pt x="10244" y="3032277"/>
                    <a:pt x="0" y="3022034"/>
                    <a:pt x="0" y="3009398"/>
                  </a:cubicBezTo>
                  <a:lnTo>
                    <a:pt x="0" y="22880"/>
                  </a:lnTo>
                  <a:cubicBezTo>
                    <a:pt x="0" y="10244"/>
                    <a:pt x="10244" y="0"/>
                    <a:pt x="2288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0"/>
            <p:cNvSpPr txBox="1"/>
            <p:nvPr/>
          </p:nvSpPr>
          <p:spPr>
            <a:xfrm>
              <a:off x="0" y="-38100"/>
              <a:ext cx="5498605" cy="30703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 1.Mối quan hệ giữa lương và các ngôn ngữ lập trình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0" name="Google Shape;270;p20"/>
          <p:cNvSpPr/>
          <p:nvPr/>
        </p:nvSpPr>
        <p:spPr>
          <a:xfrm>
            <a:off x="856657" y="2045101"/>
            <a:ext cx="16574685" cy="7961069"/>
          </a:xfrm>
          <a:custGeom>
            <a:rect b="b" l="l" r="r" t="t"/>
            <a:pathLst>
              <a:path extrusionOk="0" h="7961069" w="16574685">
                <a:moveTo>
                  <a:pt x="0" y="0"/>
                </a:moveTo>
                <a:lnTo>
                  <a:pt x="16574686" y="0"/>
                </a:lnTo>
                <a:lnTo>
                  <a:pt x="16574686" y="7961069"/>
                </a:lnTo>
                <a:lnTo>
                  <a:pt x="0" y="7961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20"/>
          <p:cNvSpPr txBox="1"/>
          <p:nvPr/>
        </p:nvSpPr>
        <p:spPr>
          <a:xfrm>
            <a:off x="2673063" y="75565"/>
            <a:ext cx="1243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99"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i="0" lang="en-US" sz="55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Biểu diễn dữ liệu trên Kibana</a:t>
            </a:r>
            <a:endParaRPr b="1"/>
          </a:p>
        </p:txBody>
      </p:sp>
      <p:sp>
        <p:nvSpPr>
          <p:cNvPr id="272" name="Google Shape;272;p20"/>
          <p:cNvSpPr txBox="1"/>
          <p:nvPr/>
        </p:nvSpPr>
        <p:spPr>
          <a:xfrm>
            <a:off x="1396473" y="1314851"/>
            <a:ext cx="9002435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Mối quan hệ giữa ngoại ngữ và lương</a:t>
            </a:r>
            <a:endParaRPr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21"/>
          <p:cNvGrpSpPr/>
          <p:nvPr/>
        </p:nvGrpSpPr>
        <p:grpSpPr>
          <a:xfrm>
            <a:off x="684615" y="911469"/>
            <a:ext cx="16918771" cy="9447307"/>
            <a:chOff x="0" y="-38100"/>
            <a:chExt cx="5498605" cy="3070377"/>
          </a:xfrm>
        </p:grpSpPr>
        <p:sp>
          <p:nvSpPr>
            <p:cNvPr id="278" name="Google Shape;278;p21"/>
            <p:cNvSpPr/>
            <p:nvPr/>
          </p:nvSpPr>
          <p:spPr>
            <a:xfrm>
              <a:off x="0" y="0"/>
              <a:ext cx="5498605" cy="3032277"/>
            </a:xfrm>
            <a:custGeom>
              <a:rect b="b" l="l" r="r" t="t"/>
              <a:pathLst>
                <a:path extrusionOk="0" h="3032277" w="5498605">
                  <a:moveTo>
                    <a:pt x="22880" y="0"/>
                  </a:moveTo>
                  <a:lnTo>
                    <a:pt x="5475726" y="0"/>
                  </a:lnTo>
                  <a:cubicBezTo>
                    <a:pt x="5488362" y="0"/>
                    <a:pt x="5498605" y="10244"/>
                    <a:pt x="5498605" y="22880"/>
                  </a:cubicBezTo>
                  <a:lnTo>
                    <a:pt x="5498605" y="3009398"/>
                  </a:lnTo>
                  <a:cubicBezTo>
                    <a:pt x="5498605" y="3022034"/>
                    <a:pt x="5488362" y="3032277"/>
                    <a:pt x="5475726" y="3032277"/>
                  </a:cubicBezTo>
                  <a:lnTo>
                    <a:pt x="22880" y="3032277"/>
                  </a:lnTo>
                  <a:cubicBezTo>
                    <a:pt x="10244" y="3032277"/>
                    <a:pt x="0" y="3022034"/>
                    <a:pt x="0" y="3009398"/>
                  </a:cubicBezTo>
                  <a:lnTo>
                    <a:pt x="0" y="22880"/>
                  </a:lnTo>
                  <a:cubicBezTo>
                    <a:pt x="0" y="10244"/>
                    <a:pt x="10244" y="0"/>
                    <a:pt x="2288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1"/>
            <p:cNvSpPr txBox="1"/>
            <p:nvPr/>
          </p:nvSpPr>
          <p:spPr>
            <a:xfrm>
              <a:off x="0" y="-38100"/>
              <a:ext cx="5498605" cy="30703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 1.Mối quan hệ giữa lương và các ngôn ngữ lập trình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80" name="Google Shape;280;p21"/>
          <p:cNvSpPr/>
          <p:nvPr/>
        </p:nvSpPr>
        <p:spPr>
          <a:xfrm>
            <a:off x="1028700" y="2482019"/>
            <a:ext cx="16230600" cy="7804981"/>
          </a:xfrm>
          <a:custGeom>
            <a:rect b="b" l="l" r="r" t="t"/>
            <a:pathLst>
              <a:path extrusionOk="0" h="7804981" w="16230600">
                <a:moveTo>
                  <a:pt x="0" y="0"/>
                </a:moveTo>
                <a:lnTo>
                  <a:pt x="16230600" y="0"/>
                </a:lnTo>
                <a:lnTo>
                  <a:pt x="16230600" y="7804981"/>
                </a:lnTo>
                <a:lnTo>
                  <a:pt x="0" y="7804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21"/>
          <p:cNvSpPr txBox="1"/>
          <p:nvPr/>
        </p:nvSpPr>
        <p:spPr>
          <a:xfrm>
            <a:off x="2673063" y="75565"/>
            <a:ext cx="1243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99"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i="0" lang="en-US" sz="55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Biểu diễn dữ liệu trên Kibana</a:t>
            </a:r>
            <a:endParaRPr b="1"/>
          </a:p>
        </p:txBody>
      </p:sp>
      <p:sp>
        <p:nvSpPr>
          <p:cNvPr id="282" name="Google Shape;282;p21"/>
          <p:cNvSpPr txBox="1"/>
          <p:nvPr/>
        </p:nvSpPr>
        <p:spPr>
          <a:xfrm>
            <a:off x="0" y="1314851"/>
            <a:ext cx="13424331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Phân bố số lượng công việc trên các tỉnh thành</a:t>
            </a:r>
            <a:endParaRPr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22"/>
          <p:cNvGrpSpPr/>
          <p:nvPr/>
        </p:nvGrpSpPr>
        <p:grpSpPr>
          <a:xfrm>
            <a:off x="684615" y="911469"/>
            <a:ext cx="16918771" cy="9447307"/>
            <a:chOff x="0" y="-38100"/>
            <a:chExt cx="5498605" cy="3070377"/>
          </a:xfrm>
        </p:grpSpPr>
        <p:sp>
          <p:nvSpPr>
            <p:cNvPr id="288" name="Google Shape;288;p22"/>
            <p:cNvSpPr/>
            <p:nvPr/>
          </p:nvSpPr>
          <p:spPr>
            <a:xfrm>
              <a:off x="0" y="0"/>
              <a:ext cx="5498605" cy="3032277"/>
            </a:xfrm>
            <a:custGeom>
              <a:rect b="b" l="l" r="r" t="t"/>
              <a:pathLst>
                <a:path extrusionOk="0" h="3032277" w="5498605">
                  <a:moveTo>
                    <a:pt x="22880" y="0"/>
                  </a:moveTo>
                  <a:lnTo>
                    <a:pt x="5475726" y="0"/>
                  </a:lnTo>
                  <a:cubicBezTo>
                    <a:pt x="5488362" y="0"/>
                    <a:pt x="5498605" y="10244"/>
                    <a:pt x="5498605" y="22880"/>
                  </a:cubicBezTo>
                  <a:lnTo>
                    <a:pt x="5498605" y="3009398"/>
                  </a:lnTo>
                  <a:cubicBezTo>
                    <a:pt x="5498605" y="3022034"/>
                    <a:pt x="5488362" y="3032277"/>
                    <a:pt x="5475726" y="3032277"/>
                  </a:cubicBezTo>
                  <a:lnTo>
                    <a:pt x="22880" y="3032277"/>
                  </a:lnTo>
                  <a:cubicBezTo>
                    <a:pt x="10244" y="3032277"/>
                    <a:pt x="0" y="3022034"/>
                    <a:pt x="0" y="3009398"/>
                  </a:cubicBezTo>
                  <a:lnTo>
                    <a:pt x="0" y="22880"/>
                  </a:lnTo>
                  <a:cubicBezTo>
                    <a:pt x="0" y="10244"/>
                    <a:pt x="10244" y="0"/>
                    <a:pt x="2288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0" y="-38100"/>
              <a:ext cx="5498605" cy="30703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 1.Mối quan hệ giữa lương và các ngôn ngữ lập trình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90" name="Google Shape;290;p22"/>
          <p:cNvSpPr/>
          <p:nvPr/>
        </p:nvSpPr>
        <p:spPr>
          <a:xfrm>
            <a:off x="1087788" y="2482019"/>
            <a:ext cx="16171512" cy="7607875"/>
          </a:xfrm>
          <a:custGeom>
            <a:rect b="b" l="l" r="r" t="t"/>
            <a:pathLst>
              <a:path extrusionOk="0" h="7607875" w="16171512">
                <a:moveTo>
                  <a:pt x="0" y="0"/>
                </a:moveTo>
                <a:lnTo>
                  <a:pt x="16171512" y="0"/>
                </a:lnTo>
                <a:lnTo>
                  <a:pt x="16171512" y="7607874"/>
                </a:lnTo>
                <a:lnTo>
                  <a:pt x="0" y="7607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22"/>
          <p:cNvSpPr txBox="1"/>
          <p:nvPr/>
        </p:nvSpPr>
        <p:spPr>
          <a:xfrm>
            <a:off x="2673063" y="75565"/>
            <a:ext cx="1243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99"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i="0" lang="en-US" sz="55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Biểu diễn dữ liệu trên Kibana</a:t>
            </a:r>
            <a:endParaRPr b="1"/>
          </a:p>
        </p:txBody>
      </p:sp>
      <p:sp>
        <p:nvSpPr>
          <p:cNvPr id="292" name="Google Shape;292;p22"/>
          <p:cNvSpPr txBox="1"/>
          <p:nvPr/>
        </p:nvSpPr>
        <p:spPr>
          <a:xfrm>
            <a:off x="1028700" y="1097718"/>
            <a:ext cx="11518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Tương quan giữa lương và số lượng công việc liên quan đến phần cứng và phần </a:t>
            </a:r>
            <a:r>
              <a:rPr lang="en-US" sz="3999">
                <a:latin typeface="Inter"/>
                <a:ea typeface="Inter"/>
                <a:cs typeface="Inter"/>
                <a:sym typeface="Inter"/>
              </a:rPr>
              <a:t>mềm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95B2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/>
          <p:nvPr/>
        </p:nvSpPr>
        <p:spPr>
          <a:xfrm>
            <a:off x="5209807" y="-309859"/>
            <a:ext cx="7868385" cy="10906460"/>
          </a:xfrm>
          <a:custGeom>
            <a:rect b="b" l="l" r="r" t="t"/>
            <a:pathLst>
              <a:path extrusionOk="0"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-101158" t="-45123"/>
            </a:stretch>
          </a:blipFill>
          <a:ln>
            <a:noFill/>
          </a:ln>
        </p:spPr>
      </p:sp>
      <p:sp>
        <p:nvSpPr>
          <p:cNvPr id="298" name="Google Shape;298;p25"/>
          <p:cNvSpPr/>
          <p:nvPr/>
        </p:nvSpPr>
        <p:spPr>
          <a:xfrm>
            <a:off x="-2649053" y="-309601"/>
            <a:ext cx="7868385" cy="10906460"/>
          </a:xfrm>
          <a:custGeom>
            <a:rect b="b" l="l" r="r" t="t"/>
            <a:pathLst>
              <a:path extrusionOk="0"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-101158" t="-45123"/>
            </a:stretch>
          </a:blipFill>
          <a:ln>
            <a:noFill/>
          </a:ln>
        </p:spPr>
      </p:sp>
      <p:sp>
        <p:nvSpPr>
          <p:cNvPr id="299" name="Google Shape;299;p25"/>
          <p:cNvSpPr/>
          <p:nvPr/>
        </p:nvSpPr>
        <p:spPr>
          <a:xfrm>
            <a:off x="13068668" y="-309601"/>
            <a:ext cx="7868385" cy="10906460"/>
          </a:xfrm>
          <a:custGeom>
            <a:rect b="b" l="l" r="r" t="t"/>
            <a:pathLst>
              <a:path extrusionOk="0"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-101158" t="-45123"/>
            </a:stretch>
          </a:blipFill>
          <a:ln>
            <a:noFill/>
          </a:ln>
        </p:spPr>
      </p:sp>
      <p:grpSp>
        <p:nvGrpSpPr>
          <p:cNvPr id="300" name="Google Shape;300;p25"/>
          <p:cNvGrpSpPr/>
          <p:nvPr/>
        </p:nvGrpSpPr>
        <p:grpSpPr>
          <a:xfrm>
            <a:off x="1028700" y="882162"/>
            <a:ext cx="16230600" cy="8376138"/>
            <a:chOff x="0" y="-47625"/>
            <a:chExt cx="5274950" cy="2722247"/>
          </a:xfrm>
        </p:grpSpPr>
        <p:sp>
          <p:nvSpPr>
            <p:cNvPr id="301" name="Google Shape;301;p25"/>
            <p:cNvSpPr/>
            <p:nvPr/>
          </p:nvSpPr>
          <p:spPr>
            <a:xfrm>
              <a:off x="0" y="0"/>
              <a:ext cx="5274950" cy="2674622"/>
            </a:xfrm>
            <a:custGeom>
              <a:rect b="b" l="l" r="r" t="t"/>
              <a:pathLst>
                <a:path extrusionOk="0" h="2674622" w="5274950">
                  <a:moveTo>
                    <a:pt x="23850" y="0"/>
                  </a:moveTo>
                  <a:lnTo>
                    <a:pt x="5251100" y="0"/>
                  </a:lnTo>
                  <a:cubicBezTo>
                    <a:pt x="5264272" y="0"/>
                    <a:pt x="5274950" y="10678"/>
                    <a:pt x="5274950" y="23850"/>
                  </a:cubicBezTo>
                  <a:lnTo>
                    <a:pt x="5274950" y="2650773"/>
                  </a:lnTo>
                  <a:cubicBezTo>
                    <a:pt x="5274950" y="2657098"/>
                    <a:pt x="5272437" y="2663164"/>
                    <a:pt x="5267964" y="2667637"/>
                  </a:cubicBezTo>
                  <a:cubicBezTo>
                    <a:pt x="5263492" y="2672110"/>
                    <a:pt x="5257425" y="2674622"/>
                    <a:pt x="5251100" y="2674622"/>
                  </a:cubicBezTo>
                  <a:lnTo>
                    <a:pt x="23850" y="2674622"/>
                  </a:lnTo>
                  <a:cubicBezTo>
                    <a:pt x="17524" y="2674622"/>
                    <a:pt x="11458" y="2672110"/>
                    <a:pt x="6985" y="2667637"/>
                  </a:cubicBezTo>
                  <a:cubicBezTo>
                    <a:pt x="2513" y="2663164"/>
                    <a:pt x="0" y="2657098"/>
                    <a:pt x="0" y="265077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5"/>
            <p:cNvSpPr txBox="1"/>
            <p:nvPr/>
          </p:nvSpPr>
          <p:spPr>
            <a:xfrm>
              <a:off x="0" y="-47625"/>
              <a:ext cx="5274950" cy="2722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25"/>
          <p:cNvSpPr/>
          <p:nvPr/>
        </p:nvSpPr>
        <p:spPr>
          <a:xfrm>
            <a:off x="223461" y="4236090"/>
            <a:ext cx="6980942" cy="6631895"/>
          </a:xfrm>
          <a:custGeom>
            <a:rect b="b" l="l" r="r" t="t"/>
            <a:pathLst>
              <a:path extrusionOk="0" h="6631895" w="6980942">
                <a:moveTo>
                  <a:pt x="0" y="0"/>
                </a:moveTo>
                <a:lnTo>
                  <a:pt x="6980941" y="0"/>
                </a:lnTo>
                <a:lnTo>
                  <a:pt x="6980941" y="6631895"/>
                </a:lnTo>
                <a:lnTo>
                  <a:pt x="0" y="663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25"/>
          <p:cNvSpPr txBox="1"/>
          <p:nvPr/>
        </p:nvSpPr>
        <p:spPr>
          <a:xfrm>
            <a:off x="-3568555" y="1787302"/>
            <a:ext cx="20162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44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THANKS FOR </a:t>
            </a:r>
            <a:endParaRPr b="0" i="0" sz="10244" u="none" cap="none" strike="noStrike">
              <a:solidFill>
                <a:srgbClr val="00000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marR="0" rtl="0" algn="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44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YOUR ATTENTION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